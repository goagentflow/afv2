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4" d="100"/>
          <a:sy n="164" d="100"/>
        </p:scale>
        <p:origin x="31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9669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mailto:hamish@goagentflow.com"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mailto:Stephen@goagentflow.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mailto:hamish@goagentflow.co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50"/>
        </a:solidFill>
        <a:effectLst/>
      </p:bgPr>
    </p:bg>
    <p:spTree>
      <p:nvGrpSpPr>
        <p:cNvPr id="1" name=""/>
        <p:cNvGrpSpPr/>
        <p:nvPr/>
      </p:nvGrpSpPr>
      <p:grpSpPr>
        <a:xfrm>
          <a:off x="0" y="0"/>
          <a:ext cx="0" cy="0"/>
          <a:chOff x="0" y="0"/>
          <a:chExt cx="0" cy="0"/>
        </a:xfrm>
      </p:grpSpPr>
      <p:sp>
        <p:nvSpPr>
          <p:cNvPr id="2" name="Shape 0"/>
          <p:cNvSpPr/>
          <p:nvPr/>
        </p:nvSpPr>
        <p:spPr>
          <a:xfrm>
            <a:off x="0" y="0"/>
            <a:ext cx="54864" cy="2560320"/>
          </a:xfrm>
          <a:prstGeom prst="rect">
            <a:avLst/>
          </a:prstGeom>
          <a:solidFill>
            <a:srgbClr val="A6C3E8"/>
          </a:solidFill>
          <a:ln/>
        </p:spPr>
        <p:txBody>
          <a:bodyPr/>
          <a:lstStyle/>
          <a:p>
            <a:endParaRPr lang="en-US"/>
          </a:p>
        </p:txBody>
      </p:sp>
      <p:sp>
        <p:nvSpPr>
          <p:cNvPr id="3" name="Shape 1"/>
          <p:cNvSpPr/>
          <p:nvPr/>
        </p:nvSpPr>
        <p:spPr>
          <a:xfrm>
            <a:off x="0" y="2560320"/>
            <a:ext cx="54864" cy="2583180"/>
          </a:xfrm>
          <a:prstGeom prst="rect">
            <a:avLst/>
          </a:prstGeom>
          <a:solidFill>
            <a:srgbClr val="C6B8E4"/>
          </a:solidFill>
          <a:ln/>
        </p:spPr>
        <p:txBody>
          <a:bodyPr/>
          <a:lstStyle/>
          <a:p>
            <a:endParaRPr lang="en-US"/>
          </a:p>
        </p:txBody>
      </p:sp>
      <p:sp>
        <p:nvSpPr>
          <p:cNvPr id="4" name="Text 2"/>
          <p:cNvSpPr/>
          <p:nvPr/>
        </p:nvSpPr>
        <p:spPr>
          <a:xfrm>
            <a:off x="7198498" y="4282214"/>
            <a:ext cx="1513564" cy="365760"/>
          </a:xfrm>
          <a:prstGeom prst="rect">
            <a:avLst/>
          </a:prstGeom>
          <a:noFill/>
          <a:ln/>
        </p:spPr>
        <p:txBody>
          <a:bodyPr wrap="square" lIns="0" tIns="0" rIns="0" bIns="0" rtlCol="0" anchor="ctr"/>
          <a:lstStyle/>
          <a:p>
            <a:pPr marL="0" indent="0">
              <a:buNone/>
            </a:pPr>
            <a:r>
              <a:rPr lang="en-US" sz="1200" b="1" kern="0" spc="400" dirty="0">
                <a:solidFill>
                  <a:srgbClr val="A6C3E8"/>
                </a:solidFill>
                <a:latin typeface="Arial" pitchFamily="34" charset="0"/>
                <a:ea typeface="Arial" pitchFamily="34" charset="-122"/>
                <a:cs typeface="Arial" pitchFamily="34" charset="-120"/>
              </a:rPr>
              <a:t>AGENTFLOW</a:t>
            </a:r>
            <a:endParaRPr lang="en-US" sz="1200" dirty="0"/>
          </a:p>
        </p:txBody>
      </p:sp>
      <p:sp>
        <p:nvSpPr>
          <p:cNvPr id="5" name="Text 3"/>
          <p:cNvSpPr/>
          <p:nvPr/>
        </p:nvSpPr>
        <p:spPr>
          <a:xfrm>
            <a:off x="640080" y="1188720"/>
            <a:ext cx="7772400" cy="1645920"/>
          </a:xfrm>
          <a:prstGeom prst="rect">
            <a:avLst/>
          </a:prstGeom>
          <a:noFill/>
          <a:ln/>
        </p:spPr>
        <p:txBody>
          <a:bodyPr wrap="square" lIns="0" tIns="0" rIns="0" bIns="0" rtlCol="0" anchor="ctr"/>
          <a:lstStyle/>
          <a:p>
            <a:pPr marL="0" indent="0">
              <a:lnSpc>
                <a:spcPct val="110000"/>
              </a:lnSpc>
              <a:buNone/>
            </a:pPr>
            <a:r>
              <a:rPr lang="en-US" sz="4400" b="1" dirty="0">
                <a:solidFill>
                  <a:srgbClr val="FDFAF6"/>
                </a:solidFill>
                <a:latin typeface="Georgia" pitchFamily="34" charset="0"/>
                <a:ea typeface="Georgia" pitchFamily="34" charset="-122"/>
                <a:cs typeface="Georgia" pitchFamily="34" charset="-120"/>
              </a:rPr>
              <a:t>Building AI Capability</a:t>
            </a:r>
            <a:endParaRPr lang="en-US" sz="4400" dirty="0"/>
          </a:p>
          <a:p>
            <a:pPr marL="0" indent="0">
              <a:lnSpc>
                <a:spcPct val="110000"/>
              </a:lnSpc>
              <a:buNone/>
            </a:pPr>
            <a:r>
              <a:rPr lang="en-US" sz="4400" b="1" dirty="0">
                <a:solidFill>
                  <a:srgbClr val="FDFAF6"/>
                </a:solidFill>
                <a:latin typeface="Georgia" pitchFamily="34" charset="0"/>
                <a:ea typeface="Georgia" pitchFamily="34" charset="-122"/>
                <a:cs typeface="Georgia" pitchFamily="34" charset="-120"/>
              </a:rPr>
              <a:t>at Kao UK</a:t>
            </a:r>
            <a:endParaRPr lang="en-US" sz="4400" dirty="0"/>
          </a:p>
        </p:txBody>
      </p:sp>
      <p:sp>
        <p:nvSpPr>
          <p:cNvPr id="6" name="Text 4"/>
          <p:cNvSpPr/>
          <p:nvPr/>
        </p:nvSpPr>
        <p:spPr>
          <a:xfrm>
            <a:off x="640080" y="2926080"/>
            <a:ext cx="7315200" cy="731520"/>
          </a:xfrm>
          <a:prstGeom prst="rect">
            <a:avLst/>
          </a:prstGeom>
          <a:noFill/>
          <a:ln/>
        </p:spPr>
        <p:txBody>
          <a:bodyPr wrap="square" lIns="0" tIns="0" rIns="0" bIns="0" rtlCol="0" anchor="ctr"/>
          <a:lstStyle/>
          <a:p>
            <a:pPr marL="0" indent="0">
              <a:lnSpc>
                <a:spcPct val="130000"/>
              </a:lnSpc>
              <a:buNone/>
            </a:pPr>
            <a:r>
              <a:rPr lang="en-US" sz="1500" dirty="0">
                <a:solidFill>
                  <a:srgbClr val="A6C3E8"/>
                </a:solidFill>
                <a:latin typeface="Arial" pitchFamily="34" charset="0"/>
                <a:ea typeface="Arial" pitchFamily="34" charset="-122"/>
                <a:cs typeface="Arial" pitchFamily="34" charset="-120"/>
              </a:rPr>
              <a:t>A programme to activate, discover and build AI expertise</a:t>
            </a:r>
            <a:endParaRPr lang="en-US" sz="1500" dirty="0"/>
          </a:p>
          <a:p>
            <a:pPr marL="0" indent="0">
              <a:lnSpc>
                <a:spcPct val="130000"/>
              </a:lnSpc>
              <a:buNone/>
            </a:pPr>
            <a:r>
              <a:rPr lang="en-US" sz="1500" dirty="0">
                <a:solidFill>
                  <a:srgbClr val="A6C3E8"/>
                </a:solidFill>
                <a:latin typeface="Arial" pitchFamily="34" charset="0"/>
                <a:ea typeface="Arial" pitchFamily="34" charset="-122"/>
                <a:cs typeface="Arial" pitchFamily="34" charset="-120"/>
              </a:rPr>
              <a:t>across the Consumer Products leadership team</a:t>
            </a:r>
            <a:endParaRPr lang="en-US" sz="1500" dirty="0"/>
          </a:p>
        </p:txBody>
      </p:sp>
      <p:sp>
        <p:nvSpPr>
          <p:cNvPr id="7" name="Text 5"/>
          <p:cNvSpPr/>
          <p:nvPr/>
        </p:nvSpPr>
        <p:spPr>
          <a:xfrm>
            <a:off x="640080" y="4389120"/>
            <a:ext cx="7315200" cy="365760"/>
          </a:xfrm>
          <a:prstGeom prst="rect">
            <a:avLst/>
          </a:prstGeom>
          <a:noFill/>
          <a:ln/>
        </p:spPr>
        <p:txBody>
          <a:bodyPr wrap="square" lIns="0" tIns="0" rIns="0" bIns="0" rtlCol="0" anchor="ctr"/>
          <a:lstStyle/>
          <a:p>
            <a:pPr marL="0" indent="0">
              <a:buNone/>
            </a:pPr>
            <a:r>
              <a:rPr lang="en-US" sz="1100" dirty="0">
                <a:solidFill>
                  <a:srgbClr val="6B6B6B"/>
                </a:solidFill>
                <a:latin typeface="Arial" pitchFamily="34" charset="0"/>
                <a:ea typeface="Arial" pitchFamily="34" charset="-122"/>
                <a:cs typeface="Arial" pitchFamily="34" charset="-120"/>
              </a:rPr>
              <a:t>Prepared for Wendy Brown  |  February 2026  |  Confidential</a:t>
            </a:r>
            <a:endParaRPr lang="en-US" sz="1100" dirty="0"/>
          </a:p>
        </p:txBody>
      </p:sp>
      <p:pic>
        <p:nvPicPr>
          <p:cNvPr id="9" name="Graphic 8">
            <a:extLst>
              <a:ext uri="{FF2B5EF4-FFF2-40B4-BE49-F238E27FC236}">
                <a16:creationId xmlns:a16="http://schemas.microsoft.com/office/drawing/2014/main" id="{4B8DAD6F-DA10-0C17-AF67-AB4D70C624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39965" y="2843939"/>
            <a:ext cx="1230630" cy="12306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AF6"/>
        </a:solidFill>
        <a:effectLst/>
      </p:bgPr>
    </p:bg>
    <p:spTree>
      <p:nvGrpSpPr>
        <p:cNvPr id="1" name=""/>
        <p:cNvGrpSpPr/>
        <p:nvPr/>
      </p:nvGrpSpPr>
      <p:grpSpPr>
        <a:xfrm>
          <a:off x="0" y="0"/>
          <a:ext cx="0" cy="0"/>
          <a:chOff x="0" y="0"/>
          <a:chExt cx="0" cy="0"/>
        </a:xfrm>
      </p:grpSpPr>
      <p:sp>
        <p:nvSpPr>
          <p:cNvPr id="2" name="Shape 0"/>
          <p:cNvSpPr/>
          <p:nvPr/>
        </p:nvSpPr>
        <p:spPr>
          <a:xfrm>
            <a:off x="0" y="0"/>
            <a:ext cx="4572000" cy="45720"/>
          </a:xfrm>
          <a:prstGeom prst="rect">
            <a:avLst/>
          </a:prstGeom>
          <a:solidFill>
            <a:srgbClr val="A6C3E8"/>
          </a:solidFill>
          <a:ln/>
        </p:spPr>
        <p:txBody>
          <a:bodyPr/>
          <a:lstStyle/>
          <a:p>
            <a:endParaRPr lang="en-US"/>
          </a:p>
        </p:txBody>
      </p:sp>
      <p:sp>
        <p:nvSpPr>
          <p:cNvPr id="3" name="Shape 1"/>
          <p:cNvSpPr/>
          <p:nvPr/>
        </p:nvSpPr>
        <p:spPr>
          <a:xfrm>
            <a:off x="4572000" y="0"/>
            <a:ext cx="4572000" cy="45720"/>
          </a:xfrm>
          <a:prstGeom prst="rect">
            <a:avLst/>
          </a:prstGeom>
          <a:solidFill>
            <a:srgbClr val="C6B8E4"/>
          </a:solidFill>
          <a:ln/>
        </p:spPr>
        <p:txBody>
          <a:bodyPr/>
          <a:lstStyle/>
          <a:p>
            <a:endParaRPr lang="en-US"/>
          </a:p>
        </p:txBody>
      </p:sp>
      <p:sp>
        <p:nvSpPr>
          <p:cNvPr id="4" name="Text 2"/>
          <p:cNvSpPr/>
          <p:nvPr/>
        </p:nvSpPr>
        <p:spPr>
          <a:xfrm>
            <a:off x="457200" y="182880"/>
            <a:ext cx="8229600" cy="502920"/>
          </a:xfrm>
          <a:prstGeom prst="rect">
            <a:avLst/>
          </a:prstGeom>
          <a:noFill/>
          <a:ln/>
        </p:spPr>
        <p:txBody>
          <a:bodyPr wrap="square" lIns="0" tIns="0" rIns="0" bIns="0" rtlCol="0" anchor="ctr"/>
          <a:lstStyle/>
          <a:p>
            <a:pPr marL="0" indent="0">
              <a:buNone/>
            </a:pPr>
            <a:r>
              <a:rPr lang="en-US" sz="2800" b="1" dirty="0">
                <a:solidFill>
                  <a:srgbClr val="2C3E50"/>
                </a:solidFill>
                <a:latin typeface="Georgia" pitchFamily="34" charset="0"/>
                <a:ea typeface="Georgia" pitchFamily="34" charset="-122"/>
                <a:cs typeface="Georgia" pitchFamily="34" charset="-120"/>
              </a:rPr>
              <a:t>Executive summary</a:t>
            </a:r>
            <a:endParaRPr lang="en-US" sz="2800" dirty="0"/>
          </a:p>
        </p:txBody>
      </p:sp>
      <p:sp>
        <p:nvSpPr>
          <p:cNvPr id="5" name="Shape 3"/>
          <p:cNvSpPr/>
          <p:nvPr/>
        </p:nvSpPr>
        <p:spPr>
          <a:xfrm>
            <a:off x="457200" y="914400"/>
            <a:ext cx="2560320" cy="320040"/>
          </a:xfrm>
          <a:prstGeom prst="rect">
            <a:avLst/>
          </a:prstGeom>
          <a:solidFill>
            <a:srgbClr val="3D5FA8"/>
          </a:solidFill>
          <a:ln/>
        </p:spPr>
        <p:txBody>
          <a:bodyPr/>
          <a:lstStyle/>
          <a:p>
            <a:endParaRPr lang="en-US"/>
          </a:p>
        </p:txBody>
      </p:sp>
      <p:sp>
        <p:nvSpPr>
          <p:cNvPr id="6" name="Text 4"/>
          <p:cNvSpPr/>
          <p:nvPr/>
        </p:nvSpPr>
        <p:spPr>
          <a:xfrm>
            <a:off x="457200" y="914400"/>
            <a:ext cx="25603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OBSERVATION</a:t>
            </a:r>
            <a:endParaRPr lang="en-US" sz="1000" dirty="0"/>
          </a:p>
        </p:txBody>
      </p:sp>
      <p:sp>
        <p:nvSpPr>
          <p:cNvPr id="7" name="Text 5"/>
          <p:cNvSpPr/>
          <p:nvPr/>
        </p:nvSpPr>
        <p:spPr>
          <a:xfrm>
            <a:off x="457200" y="1371600"/>
            <a:ext cx="2560320" cy="3657600"/>
          </a:xfrm>
          <a:prstGeom prst="rect">
            <a:avLst/>
          </a:prstGeom>
          <a:noFill/>
          <a:ln/>
        </p:spPr>
        <p:txBody>
          <a:bodyPr wrap="square" lIns="0" tIns="50800" rIns="50800" bIns="0" rtlCol="0" anchor="t"/>
          <a:lstStyle/>
          <a:p>
            <a:pPr marL="0" indent="0">
              <a:lnSpc>
                <a:spcPct val="130000"/>
              </a:lnSpc>
              <a:spcAft>
                <a:spcPts val="600"/>
              </a:spcAft>
              <a:buNone/>
            </a:pPr>
            <a:r>
              <a:rPr lang="en-US" sz="900" dirty="0">
                <a:solidFill>
                  <a:srgbClr val="3C3C3C"/>
                </a:solidFill>
                <a:latin typeface="Arial" pitchFamily="34" charset="0"/>
                <a:ea typeface="Arial" pitchFamily="34" charset="-122"/>
                <a:cs typeface="Arial" pitchFamily="34" charset="-120"/>
              </a:rPr>
              <a:t>P&amp;G, Unilever and L'Oréal have moved from experimenting with AI to embedding it operationally - across supply chain, product development and direct consumer relationships</a:t>
            </a:r>
            <a:endParaRPr lang="en-US" sz="900" dirty="0"/>
          </a:p>
          <a:p>
            <a:pPr marL="0" indent="0">
              <a:lnSpc>
                <a:spcPct val="130000"/>
              </a:lnSpc>
              <a:spcAft>
                <a:spcPts val="600"/>
              </a:spcAft>
              <a:buNone/>
            </a:pPr>
            <a:r>
              <a:rPr lang="en-US" sz="900" dirty="0">
                <a:solidFill>
                  <a:srgbClr val="3C3C3C"/>
                </a:solidFill>
                <a:latin typeface="Arial" pitchFamily="34" charset="0"/>
                <a:ea typeface="Arial" pitchFamily="34" charset="-122"/>
                <a:cs typeface="Arial" pitchFamily="34" charset="-120"/>
              </a:rPr>
              <a:t>The gap between leading and lagging FMCG players is widening every quarter</a:t>
            </a:r>
            <a:endParaRPr lang="en-US" sz="900" dirty="0"/>
          </a:p>
          <a:p>
            <a:pPr marL="0" indent="0">
              <a:lnSpc>
                <a:spcPct val="130000"/>
              </a:lnSpc>
              <a:spcAft>
                <a:spcPts val="600"/>
              </a:spcAft>
              <a:buNone/>
            </a:pPr>
            <a:r>
              <a:rPr lang="en-US" sz="900" dirty="0">
                <a:solidFill>
                  <a:srgbClr val="3C3C3C"/>
                </a:solidFill>
                <a:latin typeface="Arial" pitchFamily="34" charset="0"/>
                <a:ea typeface="Arial" pitchFamily="34" charset="-122"/>
                <a:cs typeface="Arial" pitchFamily="34" charset="-120"/>
              </a:rPr>
              <a:t>Kao UK has Copilot access and an enterprise information strategy, but neither provides a roadmap for how AI creates specific value for the UK business</a:t>
            </a:r>
            <a:endParaRPr lang="en-US" sz="900" dirty="0"/>
          </a:p>
          <a:p>
            <a:pPr marL="0" indent="0">
              <a:lnSpc>
                <a:spcPct val="130000"/>
              </a:lnSpc>
              <a:buNone/>
            </a:pPr>
            <a:r>
              <a:rPr lang="en-US" sz="900" dirty="0">
                <a:solidFill>
                  <a:srgbClr val="3C3C3C"/>
                </a:solidFill>
                <a:latin typeface="Arial" pitchFamily="34" charset="0"/>
                <a:ea typeface="Arial" pitchFamily="34" charset="-122"/>
                <a:cs typeface="Arial" pitchFamily="34" charset="-120"/>
              </a:rPr>
              <a:t>There is no structured AI capability programme coming from global</a:t>
            </a:r>
            <a:endParaRPr lang="en-US" sz="900" dirty="0"/>
          </a:p>
        </p:txBody>
      </p:sp>
      <p:sp>
        <p:nvSpPr>
          <p:cNvPr id="8" name="Shape 6"/>
          <p:cNvSpPr/>
          <p:nvPr/>
        </p:nvSpPr>
        <p:spPr>
          <a:xfrm>
            <a:off x="3246120" y="914400"/>
            <a:ext cx="2560320" cy="320040"/>
          </a:xfrm>
          <a:prstGeom prst="rect">
            <a:avLst/>
          </a:prstGeom>
          <a:solidFill>
            <a:srgbClr val="7952B3"/>
          </a:solidFill>
          <a:ln/>
        </p:spPr>
        <p:txBody>
          <a:bodyPr/>
          <a:lstStyle/>
          <a:p>
            <a:endParaRPr lang="en-US"/>
          </a:p>
        </p:txBody>
      </p:sp>
      <p:sp>
        <p:nvSpPr>
          <p:cNvPr id="9" name="Text 7"/>
          <p:cNvSpPr/>
          <p:nvPr/>
        </p:nvSpPr>
        <p:spPr>
          <a:xfrm>
            <a:off x="3246120" y="914400"/>
            <a:ext cx="25603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IMPLICATION</a:t>
            </a:r>
            <a:endParaRPr lang="en-US" sz="1000" dirty="0"/>
          </a:p>
        </p:txBody>
      </p:sp>
      <p:sp>
        <p:nvSpPr>
          <p:cNvPr id="10" name="Text 8"/>
          <p:cNvSpPr/>
          <p:nvPr/>
        </p:nvSpPr>
        <p:spPr>
          <a:xfrm>
            <a:off x="3246120" y="1371600"/>
            <a:ext cx="2560320" cy="3657600"/>
          </a:xfrm>
          <a:prstGeom prst="rect">
            <a:avLst/>
          </a:prstGeom>
          <a:noFill/>
          <a:ln/>
        </p:spPr>
        <p:txBody>
          <a:bodyPr wrap="square" lIns="0" tIns="50800" rIns="50800" bIns="0" rtlCol="0" anchor="t"/>
          <a:lstStyle/>
          <a:p>
            <a:pPr marL="0" indent="0">
              <a:lnSpc>
                <a:spcPct val="130000"/>
              </a:lnSpc>
              <a:spcAft>
                <a:spcPts val="600"/>
              </a:spcAft>
              <a:buNone/>
            </a:pPr>
            <a:r>
              <a:rPr lang="en-US" sz="900" dirty="0">
                <a:solidFill>
                  <a:srgbClr val="3C3C3C"/>
                </a:solidFill>
                <a:latin typeface="Arial" pitchFamily="34" charset="0"/>
                <a:ea typeface="Arial" pitchFamily="34" charset="-122"/>
                <a:cs typeface="Arial" pitchFamily="34" charset="-120"/>
              </a:rPr>
              <a:t>As competitors embed AI operationally, the gap stops being tactical and becomes structural - and it compounds every quarter</a:t>
            </a:r>
            <a:endParaRPr lang="en-US" sz="900" dirty="0"/>
          </a:p>
          <a:p>
            <a:pPr marL="0" indent="0">
              <a:lnSpc>
                <a:spcPct val="130000"/>
              </a:lnSpc>
              <a:spcAft>
                <a:spcPts val="600"/>
              </a:spcAft>
              <a:buNone/>
            </a:pPr>
            <a:r>
              <a:rPr lang="en-US" sz="900" dirty="0">
                <a:solidFill>
                  <a:srgbClr val="3C3C3C"/>
                </a:solidFill>
                <a:latin typeface="Arial" pitchFamily="34" charset="0"/>
                <a:ea typeface="Arial" pitchFamily="34" charset="-122"/>
                <a:cs typeface="Arial" pitchFamily="34" charset="-120"/>
              </a:rPr>
              <a:t>That shows up in the numbers. Missed targets lead to cost pressure, cost pressure leads to headcount reduction - but without AI capability to absorb the work, the next quarter gets harder, not easier. That cycle doesn't self-correct.</a:t>
            </a:r>
            <a:endParaRPr lang="en-US" sz="900" dirty="0"/>
          </a:p>
          <a:p>
            <a:pPr marL="0" indent="0">
              <a:lnSpc>
                <a:spcPct val="130000"/>
              </a:lnSpc>
              <a:buNone/>
            </a:pPr>
            <a:r>
              <a:rPr lang="en-US" sz="900" dirty="0">
                <a:solidFill>
                  <a:srgbClr val="3C3C3C"/>
                </a:solidFill>
                <a:latin typeface="Arial" pitchFamily="34" charset="0"/>
                <a:ea typeface="Arial" pitchFamily="34" charset="-122"/>
                <a:cs typeface="Arial" pitchFamily="34" charset="-120"/>
              </a:rPr>
              <a:t>Meanwhile, teams have AI tools and AI goals but no framework for connecting the two - which builds frustration, not capability</a:t>
            </a:r>
            <a:endParaRPr lang="en-US" sz="900" dirty="0"/>
          </a:p>
        </p:txBody>
      </p:sp>
      <p:sp>
        <p:nvSpPr>
          <p:cNvPr id="11" name="Shape 9"/>
          <p:cNvSpPr/>
          <p:nvPr/>
        </p:nvSpPr>
        <p:spPr>
          <a:xfrm>
            <a:off x="6035040" y="914400"/>
            <a:ext cx="2560320" cy="320040"/>
          </a:xfrm>
          <a:prstGeom prst="rect">
            <a:avLst/>
          </a:prstGeom>
          <a:solidFill>
            <a:srgbClr val="F7A89D"/>
          </a:solidFill>
          <a:ln/>
        </p:spPr>
        <p:txBody>
          <a:bodyPr/>
          <a:lstStyle/>
          <a:p>
            <a:endParaRPr lang="en-US"/>
          </a:p>
        </p:txBody>
      </p:sp>
      <p:sp>
        <p:nvSpPr>
          <p:cNvPr id="12" name="Text 10"/>
          <p:cNvSpPr/>
          <p:nvPr/>
        </p:nvSpPr>
        <p:spPr>
          <a:xfrm>
            <a:off x="6035040" y="914400"/>
            <a:ext cx="2560320" cy="320040"/>
          </a:xfrm>
          <a:prstGeom prst="rect">
            <a:avLst/>
          </a:prstGeom>
          <a:noFill/>
          <a:ln/>
        </p:spPr>
        <p:txBody>
          <a:bodyPr wrap="square" lIns="0" tIns="0" rIns="0" bIns="0" rtlCol="0" anchor="ctr"/>
          <a:lstStyle/>
          <a:p>
            <a:pPr marL="0" indent="0" algn="ctr">
              <a:buNone/>
            </a:pPr>
            <a:r>
              <a:rPr lang="en-US" sz="1000" b="1" dirty="0">
                <a:solidFill>
                  <a:srgbClr val="2C3E50"/>
                </a:solidFill>
                <a:latin typeface="Arial" pitchFamily="34" charset="0"/>
                <a:ea typeface="Arial" pitchFamily="34" charset="-122"/>
                <a:cs typeface="Arial" pitchFamily="34" charset="-120"/>
              </a:rPr>
              <a:t>SOLUTION</a:t>
            </a:r>
            <a:endParaRPr lang="en-US" sz="1000" dirty="0"/>
          </a:p>
        </p:txBody>
      </p:sp>
      <p:sp>
        <p:nvSpPr>
          <p:cNvPr id="13" name="Text 11"/>
          <p:cNvSpPr/>
          <p:nvPr/>
        </p:nvSpPr>
        <p:spPr>
          <a:xfrm>
            <a:off x="6035040" y="1371600"/>
            <a:ext cx="2560320" cy="3657600"/>
          </a:xfrm>
          <a:prstGeom prst="rect">
            <a:avLst/>
          </a:prstGeom>
          <a:noFill/>
          <a:ln/>
        </p:spPr>
        <p:txBody>
          <a:bodyPr wrap="square" lIns="0" tIns="50800" rIns="50800" bIns="0" rtlCol="0" anchor="t"/>
          <a:lstStyle/>
          <a:p>
            <a:pPr marL="0" indent="0">
              <a:lnSpc>
                <a:spcPct val="125000"/>
              </a:lnSpc>
              <a:spcAft>
                <a:spcPts val="400"/>
              </a:spcAft>
              <a:buNone/>
            </a:pPr>
            <a:r>
              <a:rPr lang="en-US" sz="850" b="1" dirty="0">
                <a:solidFill>
                  <a:srgbClr val="3C3C3C"/>
                </a:solidFill>
                <a:latin typeface="Arial" pitchFamily="34" charset="0"/>
                <a:ea typeface="Arial" pitchFamily="34" charset="-122"/>
                <a:cs typeface="Arial" pitchFamily="34" charset="-120"/>
              </a:rPr>
              <a:t>A structured programme that builds AI capability from the ground up</a:t>
            </a:r>
            <a:endParaRPr lang="en-US" sz="850" dirty="0"/>
          </a:p>
          <a:p>
            <a:pPr marL="0" indent="0">
              <a:lnSpc>
                <a:spcPct val="125000"/>
              </a:lnSpc>
              <a:spcAft>
                <a:spcPts val="200"/>
              </a:spcAft>
              <a:buNone/>
            </a:pPr>
            <a:r>
              <a:rPr lang="en-US" sz="850" dirty="0">
                <a:solidFill>
                  <a:srgbClr val="3C3C3C"/>
                </a:solidFill>
                <a:latin typeface="Arial" pitchFamily="34" charset="0"/>
                <a:ea typeface="Arial" pitchFamily="34" charset="-122"/>
                <a:cs typeface="Arial" pitchFamily="34" charset="-120"/>
              </a:rPr>
              <a:t>Four stages:</a:t>
            </a:r>
            <a:endParaRPr lang="en-US" sz="850" dirty="0"/>
          </a:p>
          <a:p>
            <a:pPr marL="0" indent="0">
              <a:lnSpc>
                <a:spcPct val="125000"/>
              </a:lnSpc>
              <a:buNone/>
            </a:pPr>
            <a:r>
              <a:rPr lang="en-US" sz="850" b="1" dirty="0">
                <a:solidFill>
                  <a:srgbClr val="3C3C3C"/>
                </a:solidFill>
                <a:latin typeface="Arial" pitchFamily="34" charset="0"/>
                <a:ea typeface="Arial" pitchFamily="34" charset="-122"/>
                <a:cs typeface="Arial" pitchFamily="34" charset="-120"/>
              </a:rPr>
              <a:t>Activate</a:t>
            </a:r>
            <a:r>
              <a:rPr lang="en-US" sz="850" dirty="0">
                <a:solidFill>
                  <a:srgbClr val="3C3C3C"/>
                </a:solidFill>
                <a:latin typeface="Arial" pitchFamily="34" charset="0"/>
                <a:ea typeface="Arial" pitchFamily="34" charset="-122"/>
                <a:cs typeface="Arial" pitchFamily="34" charset="-120"/>
              </a:rPr>
              <a:t> - equip every team member with practical prompt skills they can use immediately</a:t>
            </a:r>
            <a:endParaRPr lang="en-US" sz="850" dirty="0"/>
          </a:p>
          <a:p>
            <a:pPr marL="0" indent="0">
              <a:lnSpc>
                <a:spcPct val="125000"/>
              </a:lnSpc>
              <a:buNone/>
            </a:pPr>
            <a:r>
              <a:rPr lang="en-US" sz="850" b="1" dirty="0">
                <a:solidFill>
                  <a:srgbClr val="3C3C3C"/>
                </a:solidFill>
                <a:latin typeface="Arial" pitchFamily="34" charset="0"/>
                <a:ea typeface="Arial" pitchFamily="34" charset="-122"/>
                <a:cs typeface="Arial" pitchFamily="34" charset="-120"/>
              </a:rPr>
              <a:t>Discover</a:t>
            </a:r>
            <a:r>
              <a:rPr lang="en-US" sz="850" dirty="0">
                <a:solidFill>
                  <a:srgbClr val="3C3C3C"/>
                </a:solidFill>
                <a:latin typeface="Arial" pitchFamily="34" charset="0"/>
                <a:ea typeface="Arial" pitchFamily="34" charset="-122"/>
                <a:cs typeface="Arial" pitchFamily="34" charset="-120"/>
              </a:rPr>
              <a:t> - find where AI creates most value for Kao UK, using our structured discovery framework</a:t>
            </a:r>
            <a:endParaRPr lang="en-US" sz="850" dirty="0"/>
          </a:p>
          <a:p>
            <a:pPr marL="0" indent="0">
              <a:lnSpc>
                <a:spcPct val="125000"/>
              </a:lnSpc>
              <a:buNone/>
            </a:pPr>
            <a:r>
              <a:rPr lang="en-US" sz="850" b="1" dirty="0">
                <a:solidFill>
                  <a:srgbClr val="3C3C3C"/>
                </a:solidFill>
                <a:latin typeface="Arial" pitchFamily="34" charset="0"/>
                <a:ea typeface="Arial" pitchFamily="34" charset="-122"/>
                <a:cs typeface="Arial" pitchFamily="34" charset="-120"/>
              </a:rPr>
              <a:t>Build</a:t>
            </a:r>
            <a:r>
              <a:rPr lang="en-US" sz="850" dirty="0">
                <a:solidFill>
                  <a:srgbClr val="3C3C3C"/>
                </a:solidFill>
                <a:latin typeface="Arial" pitchFamily="34" charset="0"/>
                <a:ea typeface="Arial" pitchFamily="34" charset="-122"/>
                <a:cs typeface="Arial" pitchFamily="34" charset="-120"/>
              </a:rPr>
              <a:t> - create real AI agents that solve real problems in the business</a:t>
            </a:r>
            <a:endParaRPr lang="en-US" sz="850" dirty="0"/>
          </a:p>
          <a:p>
            <a:pPr marL="0" indent="0">
              <a:lnSpc>
                <a:spcPct val="125000"/>
              </a:lnSpc>
              <a:buNone/>
            </a:pPr>
            <a:r>
              <a:rPr lang="en-US" sz="850" b="1" dirty="0">
                <a:solidFill>
                  <a:srgbClr val="3C3C3C"/>
                </a:solidFill>
                <a:latin typeface="Arial" pitchFamily="34" charset="0"/>
                <a:ea typeface="Arial" pitchFamily="34" charset="-122"/>
                <a:cs typeface="Arial" pitchFamily="34" charset="-120"/>
              </a:rPr>
              <a:t>Embed</a:t>
            </a:r>
            <a:r>
              <a:rPr lang="en-US" sz="850" dirty="0">
                <a:solidFill>
                  <a:srgbClr val="3C3C3C"/>
                </a:solidFill>
                <a:latin typeface="Arial" pitchFamily="34" charset="0"/>
                <a:ea typeface="Arial" pitchFamily="34" charset="-122"/>
                <a:cs typeface="Arial" pitchFamily="34" charset="-120"/>
              </a:rPr>
              <a:t> - make it stick. Culture, governance and ways of working so capability compounds</a:t>
            </a:r>
            <a:endParaRPr lang="en-US" sz="850" dirty="0"/>
          </a:p>
          <a:p>
            <a:pPr marL="0" indent="0">
              <a:lnSpc>
                <a:spcPct val="125000"/>
              </a:lnSpc>
              <a:spcAft>
                <a:spcPts val="400"/>
              </a:spcAft>
              <a:buNone/>
            </a:pPr>
            <a:r>
              <a:rPr lang="en-US" sz="850" dirty="0">
                <a:solidFill>
                  <a:srgbClr val="3C3C3C"/>
                </a:solidFill>
                <a:latin typeface="Arial" pitchFamily="34" charset="0"/>
                <a:ea typeface="Arial" pitchFamily="34" charset="-122"/>
                <a:cs typeface="Arial" pitchFamily="34" charset="-120"/>
              </a:rPr>
              <a:t>Not a global transformation programme - a tactical, UK-led approach that focuses on where you can have the biggest impact with the team you've got</a:t>
            </a:r>
            <a:endParaRPr lang="en-US" sz="850" dirty="0"/>
          </a:p>
          <a:p>
            <a:pPr marL="0" indent="0">
              <a:lnSpc>
                <a:spcPct val="125000"/>
              </a:lnSpc>
              <a:spcAft>
                <a:spcPts val="400"/>
              </a:spcAft>
              <a:buNone/>
            </a:pPr>
            <a:r>
              <a:rPr lang="en-US" sz="850" dirty="0">
                <a:solidFill>
                  <a:srgbClr val="3C3C3C"/>
                </a:solidFill>
                <a:latin typeface="Arial" pitchFamily="34" charset="0"/>
                <a:ea typeface="Arial" pitchFamily="34" charset="-122"/>
                <a:cs typeface="Arial" pitchFamily="34" charset="-120"/>
              </a:rPr>
              <a:t>The team ends up owning the capability, not renting it from consultants</a:t>
            </a:r>
            <a:endParaRPr lang="en-US" sz="850" dirty="0"/>
          </a:p>
          <a:p>
            <a:pPr marL="0" indent="0">
              <a:lnSpc>
                <a:spcPct val="125000"/>
              </a:lnSpc>
              <a:buNone/>
            </a:pPr>
            <a:r>
              <a:rPr lang="en-US" sz="850" dirty="0">
                <a:solidFill>
                  <a:srgbClr val="3C3C3C"/>
                </a:solidFill>
                <a:latin typeface="Arial" pitchFamily="34" charset="0"/>
                <a:ea typeface="Arial" pitchFamily="34" charset="-122"/>
                <a:cs typeface="Arial" pitchFamily="34" charset="-120"/>
              </a:rPr>
              <a:t>Once AI capability clicks, it compounds. Knowledge mixed with curiosity and encouragement creates optimism and innovation like no other technology. That's not a side effect of this programme - it's the formula.</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2C3E50"/>
          </a:solidFill>
          <a:ln/>
        </p:spPr>
        <p:txBody>
          <a:bodyPr/>
          <a:lstStyle/>
          <a:p>
            <a:endParaRPr lang="en-US"/>
          </a:p>
        </p:txBody>
      </p:sp>
      <p:sp>
        <p:nvSpPr>
          <p:cNvPr id="3" name="Shape 1"/>
          <p:cNvSpPr/>
          <p:nvPr/>
        </p:nvSpPr>
        <p:spPr>
          <a:xfrm>
            <a:off x="4572000" y="0"/>
            <a:ext cx="4572000" cy="5143500"/>
          </a:xfrm>
          <a:prstGeom prst="rect">
            <a:avLst/>
          </a:prstGeom>
          <a:solidFill>
            <a:srgbClr val="FDFAF6"/>
          </a:solidFill>
          <a:ln/>
        </p:spPr>
        <p:txBody>
          <a:bodyPr/>
          <a:lstStyle/>
          <a:p>
            <a:endParaRPr lang="en-US"/>
          </a:p>
        </p:txBody>
      </p:sp>
      <p:sp>
        <p:nvSpPr>
          <p:cNvPr id="4" name="Text 2"/>
          <p:cNvSpPr/>
          <p:nvPr/>
        </p:nvSpPr>
        <p:spPr>
          <a:xfrm>
            <a:off x="457200" y="320040"/>
            <a:ext cx="3840480" cy="411480"/>
          </a:xfrm>
          <a:prstGeom prst="rect">
            <a:avLst/>
          </a:prstGeom>
          <a:noFill/>
          <a:ln/>
        </p:spPr>
        <p:txBody>
          <a:bodyPr wrap="square" lIns="0" tIns="0" rIns="0" bIns="0" rtlCol="0" anchor="ctr"/>
          <a:lstStyle/>
          <a:p>
            <a:pPr marL="0" indent="0">
              <a:buNone/>
            </a:pPr>
            <a:r>
              <a:rPr lang="en-US" sz="2200" b="1" dirty="0">
                <a:solidFill>
                  <a:srgbClr val="A6C3E8"/>
                </a:solidFill>
                <a:latin typeface="Georgia" pitchFamily="34" charset="0"/>
                <a:ea typeface="Georgia" pitchFamily="34" charset="-122"/>
                <a:cs typeface="Georgia" pitchFamily="34" charset="-120"/>
              </a:rPr>
              <a:t>What you told us</a:t>
            </a:r>
            <a:endParaRPr lang="en-US" sz="2200" dirty="0"/>
          </a:p>
        </p:txBody>
      </p:sp>
      <p:sp>
        <p:nvSpPr>
          <p:cNvPr id="5" name="Text 3"/>
          <p:cNvSpPr/>
          <p:nvPr/>
        </p:nvSpPr>
        <p:spPr>
          <a:xfrm>
            <a:off x="4937760" y="320040"/>
            <a:ext cx="3840480" cy="411480"/>
          </a:xfrm>
          <a:prstGeom prst="rect">
            <a:avLst/>
          </a:prstGeom>
          <a:noFill/>
          <a:ln/>
        </p:spPr>
        <p:txBody>
          <a:bodyPr wrap="square" lIns="0" tIns="0" rIns="0" bIns="0" rtlCol="0" anchor="ctr"/>
          <a:lstStyle/>
          <a:p>
            <a:pPr marL="0" indent="0">
              <a:buNone/>
            </a:pPr>
            <a:r>
              <a:rPr lang="en-US" sz="2200" b="1" dirty="0">
                <a:solidFill>
                  <a:srgbClr val="7952B3"/>
                </a:solidFill>
                <a:latin typeface="Georgia" pitchFamily="34" charset="0"/>
                <a:ea typeface="Georgia" pitchFamily="34" charset="-122"/>
                <a:cs typeface="Georgia" pitchFamily="34" charset="-120"/>
              </a:rPr>
              <a:t>What we heard</a:t>
            </a:r>
            <a:endParaRPr lang="en-US" sz="2200" dirty="0"/>
          </a:p>
        </p:txBody>
      </p:sp>
      <p:sp>
        <p:nvSpPr>
          <p:cNvPr id="6" name="Shape 4"/>
          <p:cNvSpPr/>
          <p:nvPr/>
        </p:nvSpPr>
        <p:spPr>
          <a:xfrm>
            <a:off x="457200" y="822960"/>
            <a:ext cx="3840480" cy="0"/>
          </a:xfrm>
          <a:prstGeom prst="line">
            <a:avLst/>
          </a:prstGeom>
          <a:noFill/>
          <a:ln w="6350">
            <a:solidFill>
              <a:srgbClr val="3C5060"/>
            </a:solidFill>
            <a:prstDash val="solid"/>
          </a:ln>
        </p:spPr>
        <p:txBody>
          <a:bodyPr/>
          <a:lstStyle/>
          <a:p>
            <a:endParaRPr lang="en-US"/>
          </a:p>
        </p:txBody>
      </p:sp>
      <p:sp>
        <p:nvSpPr>
          <p:cNvPr id="7" name="Shape 5"/>
          <p:cNvSpPr/>
          <p:nvPr/>
        </p:nvSpPr>
        <p:spPr>
          <a:xfrm>
            <a:off x="4937760" y="822960"/>
            <a:ext cx="3840480" cy="0"/>
          </a:xfrm>
          <a:prstGeom prst="line">
            <a:avLst/>
          </a:prstGeom>
          <a:noFill/>
          <a:ln w="6350">
            <a:solidFill>
              <a:srgbClr val="E0D8CE"/>
            </a:solidFill>
            <a:prstDash val="solid"/>
          </a:ln>
        </p:spPr>
        <p:txBody>
          <a:bodyPr/>
          <a:lstStyle/>
          <a:p>
            <a:endParaRPr lang="en-US"/>
          </a:p>
        </p:txBody>
      </p:sp>
      <p:sp>
        <p:nvSpPr>
          <p:cNvPr id="8" name="Text 6"/>
          <p:cNvSpPr/>
          <p:nvPr/>
        </p:nvSpPr>
        <p:spPr>
          <a:xfrm>
            <a:off x="457200" y="1051560"/>
            <a:ext cx="3840480" cy="566928"/>
          </a:xfrm>
          <a:prstGeom prst="rect">
            <a:avLst/>
          </a:prstGeom>
          <a:noFill/>
          <a:ln/>
        </p:spPr>
        <p:txBody>
          <a:bodyPr wrap="square" lIns="0" tIns="0" rIns="50800" bIns="0" rtlCol="0" anchor="t"/>
          <a:lstStyle/>
          <a:p>
            <a:pPr marL="0" indent="0">
              <a:lnSpc>
                <a:spcPct val="125000"/>
              </a:lnSpc>
              <a:buNone/>
            </a:pPr>
            <a:r>
              <a:rPr lang="en-US" sz="1050" i="1" dirty="0">
                <a:solidFill>
                  <a:srgbClr val="FDFAF6"/>
                </a:solidFill>
                <a:latin typeface="Arial" pitchFamily="34" charset="0"/>
                <a:ea typeface="Arial" pitchFamily="34" charset="-122"/>
                <a:cs typeface="Arial" pitchFamily="34" charset="-120"/>
              </a:rPr>
              <a:t>"AI is in my plan but I don't have a roadmap"</a:t>
            </a:r>
            <a:endParaRPr lang="en-US" sz="1050" dirty="0"/>
          </a:p>
        </p:txBody>
      </p:sp>
      <p:sp>
        <p:nvSpPr>
          <p:cNvPr id="9" name="Text 7"/>
          <p:cNvSpPr/>
          <p:nvPr/>
        </p:nvSpPr>
        <p:spPr>
          <a:xfrm>
            <a:off x="4937760" y="1051560"/>
            <a:ext cx="3840480" cy="566928"/>
          </a:xfrm>
          <a:prstGeom prst="rect">
            <a:avLst/>
          </a:prstGeom>
          <a:noFill/>
          <a:ln/>
        </p:spPr>
        <p:txBody>
          <a:bodyPr wrap="square" lIns="0" tIns="0" rIns="50800" bIns="0" rtlCol="0" anchor="t"/>
          <a:lstStyle/>
          <a:p>
            <a:pPr marL="0" indent="0">
              <a:lnSpc>
                <a:spcPct val="125000"/>
              </a:lnSpc>
              <a:buNone/>
            </a:pPr>
            <a:r>
              <a:rPr lang="en-US" sz="1050" dirty="0">
                <a:solidFill>
                  <a:srgbClr val="3C3C3C"/>
                </a:solidFill>
                <a:latin typeface="Arial" pitchFamily="34" charset="0"/>
                <a:ea typeface="Arial" pitchFamily="34" charset="-122"/>
                <a:cs typeface="Arial" pitchFamily="34" charset="-120"/>
              </a:rPr>
              <a:t>You need a structured path, not just ambition</a:t>
            </a:r>
            <a:endParaRPr lang="en-US" sz="1050" dirty="0"/>
          </a:p>
        </p:txBody>
      </p:sp>
      <p:sp>
        <p:nvSpPr>
          <p:cNvPr id="10" name="Text 8"/>
          <p:cNvSpPr/>
          <p:nvPr/>
        </p:nvSpPr>
        <p:spPr>
          <a:xfrm>
            <a:off x="457200" y="1618488"/>
            <a:ext cx="3840480" cy="566928"/>
          </a:xfrm>
          <a:prstGeom prst="rect">
            <a:avLst/>
          </a:prstGeom>
          <a:noFill/>
          <a:ln/>
        </p:spPr>
        <p:txBody>
          <a:bodyPr wrap="square" lIns="0" tIns="0" rIns="50800" bIns="0" rtlCol="0" anchor="t"/>
          <a:lstStyle/>
          <a:p>
            <a:pPr marL="0" indent="0">
              <a:lnSpc>
                <a:spcPct val="125000"/>
              </a:lnSpc>
              <a:buNone/>
            </a:pPr>
            <a:r>
              <a:rPr lang="en-US" sz="1050" i="1" dirty="0">
                <a:solidFill>
                  <a:srgbClr val="FDFAF6"/>
                </a:solidFill>
                <a:latin typeface="Arial" pitchFamily="34" charset="0"/>
                <a:ea typeface="Arial" pitchFamily="34" charset="-122"/>
                <a:cs typeface="Arial" pitchFamily="34" charset="-120"/>
              </a:rPr>
              <a:t>"I've told my team to use it but they don't know how"</a:t>
            </a:r>
            <a:endParaRPr lang="en-US" sz="1050" dirty="0"/>
          </a:p>
        </p:txBody>
      </p:sp>
      <p:sp>
        <p:nvSpPr>
          <p:cNvPr id="11" name="Text 9"/>
          <p:cNvSpPr/>
          <p:nvPr/>
        </p:nvSpPr>
        <p:spPr>
          <a:xfrm>
            <a:off x="4937760" y="1618488"/>
            <a:ext cx="3840480" cy="566928"/>
          </a:xfrm>
          <a:prstGeom prst="rect">
            <a:avLst/>
          </a:prstGeom>
          <a:noFill/>
          <a:ln/>
        </p:spPr>
        <p:txBody>
          <a:bodyPr wrap="square" lIns="0" tIns="0" rIns="50800" bIns="0" rtlCol="0" anchor="t"/>
          <a:lstStyle/>
          <a:p>
            <a:pPr marL="0" indent="0">
              <a:lnSpc>
                <a:spcPct val="125000"/>
              </a:lnSpc>
              <a:buNone/>
            </a:pPr>
            <a:r>
              <a:rPr lang="en-US" sz="1050" dirty="0">
                <a:solidFill>
                  <a:srgbClr val="3C3C3C"/>
                </a:solidFill>
                <a:latin typeface="Arial" pitchFamily="34" charset="0"/>
                <a:ea typeface="Arial" pitchFamily="34" charset="-122"/>
                <a:cs typeface="Arial" pitchFamily="34" charset="-120"/>
              </a:rPr>
              <a:t>Awareness isn't capability - people need proper activation</a:t>
            </a:r>
            <a:endParaRPr lang="en-US" sz="1050" dirty="0"/>
          </a:p>
        </p:txBody>
      </p:sp>
      <p:sp>
        <p:nvSpPr>
          <p:cNvPr id="12" name="Text 10"/>
          <p:cNvSpPr/>
          <p:nvPr/>
        </p:nvSpPr>
        <p:spPr>
          <a:xfrm>
            <a:off x="457200" y="2185416"/>
            <a:ext cx="3840480" cy="566928"/>
          </a:xfrm>
          <a:prstGeom prst="rect">
            <a:avLst/>
          </a:prstGeom>
          <a:noFill/>
          <a:ln/>
        </p:spPr>
        <p:txBody>
          <a:bodyPr wrap="square" lIns="0" tIns="0" rIns="50800" bIns="0" rtlCol="0" anchor="t"/>
          <a:lstStyle/>
          <a:p>
            <a:pPr marL="0" indent="0">
              <a:lnSpc>
                <a:spcPct val="125000"/>
              </a:lnSpc>
              <a:buNone/>
            </a:pPr>
            <a:r>
              <a:rPr lang="en-US" sz="1050" i="1" dirty="0">
                <a:solidFill>
                  <a:srgbClr val="FDFAF6"/>
                </a:solidFill>
                <a:latin typeface="Arial" pitchFamily="34" charset="0"/>
                <a:ea typeface="Arial" pitchFamily="34" charset="-122"/>
                <a:cs typeface="Arial" pitchFamily="34" charset="-120"/>
              </a:rPr>
              <a:t>"There's no global plan that I've seen"</a:t>
            </a:r>
            <a:endParaRPr lang="en-US" sz="1050" dirty="0"/>
          </a:p>
        </p:txBody>
      </p:sp>
      <p:sp>
        <p:nvSpPr>
          <p:cNvPr id="13" name="Text 11"/>
          <p:cNvSpPr/>
          <p:nvPr/>
        </p:nvSpPr>
        <p:spPr>
          <a:xfrm>
            <a:off x="4937760" y="2185416"/>
            <a:ext cx="3840480" cy="566928"/>
          </a:xfrm>
          <a:prstGeom prst="rect">
            <a:avLst/>
          </a:prstGeom>
          <a:noFill/>
          <a:ln/>
        </p:spPr>
        <p:txBody>
          <a:bodyPr wrap="square" lIns="0" tIns="0" rIns="50800" bIns="0" rtlCol="0" anchor="t"/>
          <a:lstStyle/>
          <a:p>
            <a:pPr marL="0" indent="0">
              <a:lnSpc>
                <a:spcPct val="125000"/>
              </a:lnSpc>
              <a:buNone/>
            </a:pPr>
            <a:r>
              <a:rPr lang="en-US" sz="1050" dirty="0">
                <a:solidFill>
                  <a:srgbClr val="3C3C3C"/>
                </a:solidFill>
                <a:latin typeface="Arial" pitchFamily="34" charset="0"/>
                <a:ea typeface="Arial" pitchFamily="34" charset="-122"/>
                <a:cs typeface="Arial" pitchFamily="34" charset="-120"/>
              </a:rPr>
              <a:t>If this is going to happen, it starts with you in the UK</a:t>
            </a:r>
            <a:endParaRPr lang="en-US" sz="1050" dirty="0"/>
          </a:p>
        </p:txBody>
      </p:sp>
      <p:sp>
        <p:nvSpPr>
          <p:cNvPr id="14" name="Text 12"/>
          <p:cNvSpPr/>
          <p:nvPr/>
        </p:nvSpPr>
        <p:spPr>
          <a:xfrm>
            <a:off x="457200" y="2752344"/>
            <a:ext cx="3840480" cy="566928"/>
          </a:xfrm>
          <a:prstGeom prst="rect">
            <a:avLst/>
          </a:prstGeom>
          <a:noFill/>
          <a:ln/>
        </p:spPr>
        <p:txBody>
          <a:bodyPr wrap="square" lIns="0" tIns="0" rIns="50800" bIns="0" rtlCol="0" anchor="t"/>
          <a:lstStyle/>
          <a:p>
            <a:pPr marL="0" indent="0">
              <a:lnSpc>
                <a:spcPct val="125000"/>
              </a:lnSpc>
              <a:buNone/>
            </a:pPr>
            <a:r>
              <a:rPr lang="en-US" sz="1050" i="1" dirty="0">
                <a:solidFill>
                  <a:srgbClr val="FDFAF6"/>
                </a:solidFill>
                <a:latin typeface="Arial" pitchFamily="34" charset="0"/>
                <a:ea typeface="Arial" pitchFamily="34" charset="-122"/>
                <a:cs typeface="Arial" pitchFamily="34" charset="-120"/>
              </a:rPr>
              <a:t>"ESI are running a 90-minute roadshow covering everything"</a:t>
            </a:r>
            <a:endParaRPr lang="en-US" sz="1050" dirty="0"/>
          </a:p>
        </p:txBody>
      </p:sp>
      <p:sp>
        <p:nvSpPr>
          <p:cNvPr id="15" name="Text 13"/>
          <p:cNvSpPr/>
          <p:nvPr/>
        </p:nvSpPr>
        <p:spPr>
          <a:xfrm>
            <a:off x="4937760" y="2752344"/>
            <a:ext cx="3840480" cy="566928"/>
          </a:xfrm>
          <a:prstGeom prst="rect">
            <a:avLst/>
          </a:prstGeom>
          <a:noFill/>
          <a:ln/>
        </p:spPr>
        <p:txBody>
          <a:bodyPr wrap="square" lIns="0" tIns="0" rIns="50800" bIns="0" rtlCol="0" anchor="t"/>
          <a:lstStyle/>
          <a:p>
            <a:pPr marL="0" indent="0">
              <a:lnSpc>
                <a:spcPct val="125000"/>
              </a:lnSpc>
              <a:buNone/>
            </a:pPr>
            <a:r>
              <a:rPr lang="en-US" sz="1050" dirty="0">
                <a:solidFill>
                  <a:srgbClr val="3C3C3C"/>
                </a:solidFill>
                <a:latin typeface="Arial" pitchFamily="34" charset="0"/>
                <a:ea typeface="Arial" pitchFamily="34" charset="-122"/>
                <a:cs typeface="Arial" pitchFamily="34" charset="-120"/>
              </a:rPr>
              <a:t>A mile wide and an inch deep won't move the needle</a:t>
            </a:r>
            <a:endParaRPr lang="en-US" sz="1050" dirty="0"/>
          </a:p>
        </p:txBody>
      </p:sp>
      <p:sp>
        <p:nvSpPr>
          <p:cNvPr id="16" name="Text 14"/>
          <p:cNvSpPr/>
          <p:nvPr/>
        </p:nvSpPr>
        <p:spPr>
          <a:xfrm>
            <a:off x="457200" y="3319272"/>
            <a:ext cx="3840480" cy="566928"/>
          </a:xfrm>
          <a:prstGeom prst="rect">
            <a:avLst/>
          </a:prstGeom>
          <a:noFill/>
          <a:ln/>
        </p:spPr>
        <p:txBody>
          <a:bodyPr wrap="square" lIns="0" tIns="0" rIns="50800" bIns="0" rtlCol="0" anchor="t"/>
          <a:lstStyle/>
          <a:p>
            <a:pPr marL="0" indent="0">
              <a:lnSpc>
                <a:spcPct val="125000"/>
              </a:lnSpc>
              <a:buNone/>
            </a:pPr>
            <a:r>
              <a:rPr lang="en-US" sz="1050" i="1" dirty="0">
                <a:solidFill>
                  <a:srgbClr val="FDFAF6"/>
                </a:solidFill>
                <a:latin typeface="Arial" pitchFamily="34" charset="0"/>
                <a:ea typeface="Arial" pitchFamily="34" charset="-122"/>
                <a:cs typeface="Arial" pitchFamily="34" charset="-120"/>
              </a:rPr>
              <a:t>"People are figuring out their own way – but is it the right way?"</a:t>
            </a:r>
            <a:endParaRPr lang="en-US" sz="1050" dirty="0"/>
          </a:p>
        </p:txBody>
      </p:sp>
      <p:sp>
        <p:nvSpPr>
          <p:cNvPr id="17" name="Text 15"/>
          <p:cNvSpPr/>
          <p:nvPr/>
        </p:nvSpPr>
        <p:spPr>
          <a:xfrm>
            <a:off x="4937760" y="3319272"/>
            <a:ext cx="3840480" cy="566928"/>
          </a:xfrm>
          <a:prstGeom prst="rect">
            <a:avLst/>
          </a:prstGeom>
          <a:noFill/>
          <a:ln/>
        </p:spPr>
        <p:txBody>
          <a:bodyPr wrap="square" lIns="0" tIns="0" rIns="50800" bIns="0" rtlCol="0" anchor="t"/>
          <a:lstStyle/>
          <a:p>
            <a:pPr marL="0" indent="0">
              <a:lnSpc>
                <a:spcPct val="125000"/>
              </a:lnSpc>
              <a:buNone/>
            </a:pPr>
            <a:r>
              <a:rPr lang="en-US" sz="1050" dirty="0">
                <a:solidFill>
                  <a:srgbClr val="3C3C3C"/>
                </a:solidFill>
                <a:latin typeface="Arial" pitchFamily="34" charset="0"/>
                <a:ea typeface="Arial" pitchFamily="34" charset="-122"/>
                <a:cs typeface="Arial" pitchFamily="34" charset="-120"/>
              </a:rPr>
              <a:t>Good intentions with no framework - there's a methodology gap</a:t>
            </a:r>
            <a:endParaRPr lang="en-US" sz="1050" dirty="0"/>
          </a:p>
        </p:txBody>
      </p:sp>
      <p:sp>
        <p:nvSpPr>
          <p:cNvPr id="18" name="Text 16"/>
          <p:cNvSpPr/>
          <p:nvPr/>
        </p:nvSpPr>
        <p:spPr>
          <a:xfrm>
            <a:off x="457200" y="3886200"/>
            <a:ext cx="3840480" cy="566928"/>
          </a:xfrm>
          <a:prstGeom prst="rect">
            <a:avLst/>
          </a:prstGeom>
          <a:noFill/>
          <a:ln/>
        </p:spPr>
        <p:txBody>
          <a:bodyPr wrap="square" lIns="0" tIns="0" rIns="50800" bIns="0" rtlCol="0" anchor="t"/>
          <a:lstStyle/>
          <a:p>
            <a:pPr marL="0" indent="0">
              <a:lnSpc>
                <a:spcPct val="125000"/>
              </a:lnSpc>
              <a:buNone/>
            </a:pPr>
            <a:r>
              <a:rPr lang="en-US" sz="1050" i="1" dirty="0">
                <a:solidFill>
                  <a:srgbClr val="FDFAF6"/>
                </a:solidFill>
                <a:latin typeface="Arial" pitchFamily="34" charset="0"/>
                <a:ea typeface="Arial" pitchFamily="34" charset="-122"/>
                <a:cs typeface="Arial" pitchFamily="34" charset="-120"/>
              </a:rPr>
              <a:t>"I need proof before I can go deep on AI"</a:t>
            </a:r>
            <a:endParaRPr lang="en-US" sz="1050" dirty="0"/>
          </a:p>
        </p:txBody>
      </p:sp>
      <p:sp>
        <p:nvSpPr>
          <p:cNvPr id="19" name="Text 17"/>
          <p:cNvSpPr/>
          <p:nvPr/>
        </p:nvSpPr>
        <p:spPr>
          <a:xfrm>
            <a:off x="4937760" y="3886200"/>
            <a:ext cx="3840480" cy="566928"/>
          </a:xfrm>
          <a:prstGeom prst="rect">
            <a:avLst/>
          </a:prstGeom>
          <a:noFill/>
          <a:ln/>
        </p:spPr>
        <p:txBody>
          <a:bodyPr wrap="square" lIns="0" tIns="0" rIns="50800" bIns="0" rtlCol="0" anchor="t"/>
          <a:lstStyle/>
          <a:p>
            <a:pPr marL="0" indent="0">
              <a:lnSpc>
                <a:spcPct val="125000"/>
              </a:lnSpc>
              <a:buNone/>
            </a:pPr>
            <a:r>
              <a:rPr lang="en-US" sz="1050" dirty="0">
                <a:solidFill>
                  <a:srgbClr val="3C3C3C"/>
                </a:solidFill>
                <a:latin typeface="Arial" pitchFamily="34" charset="0"/>
                <a:ea typeface="Arial" pitchFamily="34" charset="-122"/>
                <a:cs typeface="Arial" pitchFamily="34" charset="-120"/>
              </a:rPr>
              <a:t>Quick wins that build the case for scale</a:t>
            </a:r>
            <a:endParaRPr lang="en-US" sz="1050" dirty="0"/>
          </a:p>
        </p:txBody>
      </p:sp>
      <p:sp>
        <p:nvSpPr>
          <p:cNvPr id="20" name="Shape 18"/>
          <p:cNvSpPr/>
          <p:nvPr/>
        </p:nvSpPr>
        <p:spPr>
          <a:xfrm>
            <a:off x="0" y="4434840"/>
            <a:ext cx="9144000" cy="708660"/>
          </a:xfrm>
          <a:prstGeom prst="rect">
            <a:avLst/>
          </a:prstGeom>
          <a:solidFill>
            <a:srgbClr val="3D5FA8"/>
          </a:solidFill>
          <a:ln/>
        </p:spPr>
        <p:txBody>
          <a:bodyPr/>
          <a:lstStyle/>
          <a:p>
            <a:endParaRPr lang="en-US"/>
          </a:p>
        </p:txBody>
      </p:sp>
      <p:sp>
        <p:nvSpPr>
          <p:cNvPr id="21" name="Text 19"/>
          <p:cNvSpPr/>
          <p:nvPr/>
        </p:nvSpPr>
        <p:spPr>
          <a:xfrm>
            <a:off x="457200" y="4434840"/>
            <a:ext cx="8229600" cy="708660"/>
          </a:xfrm>
          <a:prstGeom prst="rect">
            <a:avLst/>
          </a:prstGeom>
          <a:noFill/>
          <a:ln/>
        </p:spPr>
        <p:txBody>
          <a:bodyPr wrap="square" lIns="0" tIns="0" rIns="0" bIns="0" rtlCol="0" anchor="ctr"/>
          <a:lstStyle/>
          <a:p>
            <a:pPr marL="0" indent="0">
              <a:buNone/>
            </a:pPr>
            <a:r>
              <a:rPr lang="en-US" sz="1100" i="1" dirty="0">
                <a:solidFill>
                  <a:srgbClr val="FFFFFF"/>
                </a:solidFill>
                <a:latin typeface="Arial" pitchFamily="34" charset="0"/>
                <a:ea typeface="Arial" pitchFamily="34" charset="-122"/>
                <a:cs typeface="Arial" pitchFamily="34" charset="-120"/>
              </a:rPr>
              <a:t>You have the ambition, the people and the tools. What's missing is a structured path from where you are to where you need to be.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AF6"/>
        </a:solidFill>
        <a:effectLst/>
      </p:bgPr>
    </p:bg>
    <p:spTree>
      <p:nvGrpSpPr>
        <p:cNvPr id="1" name=""/>
        <p:cNvGrpSpPr/>
        <p:nvPr/>
      </p:nvGrpSpPr>
      <p:grpSpPr>
        <a:xfrm>
          <a:off x="0" y="0"/>
          <a:ext cx="0" cy="0"/>
          <a:chOff x="0" y="0"/>
          <a:chExt cx="0" cy="0"/>
        </a:xfrm>
      </p:grpSpPr>
      <p:sp>
        <p:nvSpPr>
          <p:cNvPr id="2" name="Shape 0"/>
          <p:cNvSpPr/>
          <p:nvPr/>
        </p:nvSpPr>
        <p:spPr>
          <a:xfrm>
            <a:off x="0" y="0"/>
            <a:ext cx="4572000" cy="45720"/>
          </a:xfrm>
          <a:prstGeom prst="rect">
            <a:avLst/>
          </a:prstGeom>
          <a:solidFill>
            <a:srgbClr val="A6C3E8"/>
          </a:solidFill>
          <a:ln/>
        </p:spPr>
        <p:txBody>
          <a:bodyPr/>
          <a:lstStyle/>
          <a:p>
            <a:endParaRPr lang="en-US"/>
          </a:p>
        </p:txBody>
      </p:sp>
      <p:sp>
        <p:nvSpPr>
          <p:cNvPr id="3" name="Shape 1"/>
          <p:cNvSpPr/>
          <p:nvPr/>
        </p:nvSpPr>
        <p:spPr>
          <a:xfrm>
            <a:off x="4572000" y="0"/>
            <a:ext cx="4572000" cy="45720"/>
          </a:xfrm>
          <a:prstGeom prst="rect">
            <a:avLst/>
          </a:prstGeom>
          <a:solidFill>
            <a:srgbClr val="C6B8E4"/>
          </a:solidFill>
          <a:ln/>
        </p:spPr>
        <p:txBody>
          <a:bodyPr/>
          <a:lstStyle/>
          <a:p>
            <a:endParaRPr lang="en-US"/>
          </a:p>
        </p:txBody>
      </p:sp>
      <p:sp>
        <p:nvSpPr>
          <p:cNvPr id="4" name="Text 2"/>
          <p:cNvSpPr/>
          <p:nvPr/>
        </p:nvSpPr>
        <p:spPr>
          <a:xfrm>
            <a:off x="457200" y="182880"/>
            <a:ext cx="8229600" cy="457200"/>
          </a:xfrm>
          <a:prstGeom prst="rect">
            <a:avLst/>
          </a:prstGeom>
          <a:noFill/>
          <a:ln/>
        </p:spPr>
        <p:txBody>
          <a:bodyPr wrap="square" lIns="0" tIns="0" rIns="0" bIns="0" rtlCol="0" anchor="ctr"/>
          <a:lstStyle/>
          <a:p>
            <a:pPr marL="0" indent="0">
              <a:buNone/>
            </a:pPr>
            <a:r>
              <a:rPr lang="en-US" sz="2600" b="1" dirty="0">
                <a:solidFill>
                  <a:srgbClr val="2C3E50"/>
                </a:solidFill>
                <a:latin typeface="Georgia" pitchFamily="34" charset="0"/>
                <a:ea typeface="Georgia" pitchFamily="34" charset="-122"/>
                <a:cs typeface="Georgia" pitchFamily="34" charset="-120"/>
              </a:rPr>
              <a:t>Day One: Activate &amp; Prioritise</a:t>
            </a:r>
            <a:endParaRPr lang="en-US" sz="2600" dirty="0"/>
          </a:p>
        </p:txBody>
      </p:sp>
      <p:sp>
        <p:nvSpPr>
          <p:cNvPr id="5" name="Text 3"/>
          <p:cNvSpPr/>
          <p:nvPr/>
        </p:nvSpPr>
        <p:spPr>
          <a:xfrm>
            <a:off x="457200" y="640080"/>
            <a:ext cx="8229600" cy="274320"/>
          </a:xfrm>
          <a:prstGeom prst="rect">
            <a:avLst/>
          </a:prstGeom>
          <a:noFill/>
          <a:ln/>
        </p:spPr>
        <p:txBody>
          <a:bodyPr wrap="square" lIns="0" tIns="0" rIns="0" bIns="0" rtlCol="0" anchor="ctr"/>
          <a:lstStyle/>
          <a:p>
            <a:pPr marL="0" indent="0">
              <a:buNone/>
            </a:pPr>
            <a:r>
              <a:rPr lang="en-US" sz="1200" i="1" dirty="0">
                <a:solidFill>
                  <a:srgbClr val="6B6B6B"/>
                </a:solidFill>
                <a:latin typeface="Arial" pitchFamily="34" charset="0"/>
                <a:ea typeface="Arial" pitchFamily="34" charset="-122"/>
                <a:cs typeface="Arial" pitchFamily="34" charset="-120"/>
              </a:rPr>
              <a:t>Build capability in the morning. Direct it in the afternoon.</a:t>
            </a:r>
            <a:endParaRPr lang="en-US" sz="1200" dirty="0"/>
          </a:p>
        </p:txBody>
      </p:sp>
      <p:sp>
        <p:nvSpPr>
          <p:cNvPr id="6" name="Text 4"/>
          <p:cNvSpPr/>
          <p:nvPr/>
        </p:nvSpPr>
        <p:spPr>
          <a:xfrm>
            <a:off x="457200" y="960120"/>
            <a:ext cx="8229600" cy="502920"/>
          </a:xfrm>
          <a:prstGeom prst="rect">
            <a:avLst/>
          </a:prstGeom>
          <a:noFill/>
          <a:ln/>
        </p:spPr>
        <p:txBody>
          <a:bodyPr wrap="square" lIns="0" tIns="0" rIns="0" bIns="0" rtlCol="0" anchor="ctr"/>
          <a:lstStyle/>
          <a:p>
            <a:pPr marL="0" indent="0">
              <a:lnSpc>
                <a:spcPct val="135000"/>
              </a:lnSpc>
              <a:buNone/>
            </a:pPr>
            <a:r>
              <a:rPr lang="en-US" sz="1000" dirty="0">
                <a:solidFill>
                  <a:srgbClr val="3C3C3C"/>
                </a:solidFill>
                <a:latin typeface="Arial" pitchFamily="34" charset="0"/>
                <a:ea typeface="Arial" pitchFamily="34" charset="-122"/>
                <a:cs typeface="Arial" pitchFamily="34" charset="-120"/>
              </a:rPr>
              <a:t>Your leadership team spends a full day with AI - not watching a demo, not sitting through slides, but working with it. By the end, they'll be much more competent with the tools they already have and you'll have a prioritised list of the opportunities worth pursuing first.</a:t>
            </a:r>
            <a:endParaRPr lang="en-US" sz="1000" dirty="0"/>
          </a:p>
        </p:txBody>
      </p:sp>
      <p:sp>
        <p:nvSpPr>
          <p:cNvPr id="7" name="Shape 5"/>
          <p:cNvSpPr/>
          <p:nvPr/>
        </p:nvSpPr>
        <p:spPr>
          <a:xfrm>
            <a:off x="457200" y="1600200"/>
            <a:ext cx="3931920" cy="2834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8" name="Shape 6"/>
          <p:cNvSpPr/>
          <p:nvPr/>
        </p:nvSpPr>
        <p:spPr>
          <a:xfrm>
            <a:off x="457200" y="1600200"/>
            <a:ext cx="54864" cy="2834640"/>
          </a:xfrm>
          <a:prstGeom prst="rect">
            <a:avLst/>
          </a:prstGeom>
          <a:solidFill>
            <a:srgbClr val="3D5FA8"/>
          </a:solidFill>
          <a:ln/>
        </p:spPr>
        <p:txBody>
          <a:bodyPr/>
          <a:lstStyle/>
          <a:p>
            <a:endParaRPr lang="en-US"/>
          </a:p>
        </p:txBody>
      </p:sp>
      <p:sp>
        <p:nvSpPr>
          <p:cNvPr id="9" name="Text 7"/>
          <p:cNvSpPr/>
          <p:nvPr/>
        </p:nvSpPr>
        <p:spPr>
          <a:xfrm>
            <a:off x="685800" y="1709928"/>
            <a:ext cx="3566160" cy="274320"/>
          </a:xfrm>
          <a:prstGeom prst="rect">
            <a:avLst/>
          </a:prstGeom>
          <a:noFill/>
          <a:ln/>
        </p:spPr>
        <p:txBody>
          <a:bodyPr wrap="square" lIns="0" tIns="0" rIns="0" bIns="0" rtlCol="0" anchor="ctr"/>
          <a:lstStyle/>
          <a:p>
            <a:pPr marL="0" indent="0">
              <a:buNone/>
            </a:pPr>
            <a:r>
              <a:rPr lang="en-US" sz="1300" b="1" dirty="0">
                <a:solidFill>
                  <a:srgbClr val="3D5FA8"/>
                </a:solidFill>
                <a:latin typeface="Georgia" pitchFamily="34" charset="0"/>
                <a:ea typeface="Georgia" pitchFamily="34" charset="-122"/>
                <a:cs typeface="Georgia" pitchFamily="34" charset="-120"/>
              </a:rPr>
              <a:t>Morning: Inspiration &amp; Activation</a:t>
            </a:r>
            <a:endParaRPr lang="en-US" sz="1300" dirty="0"/>
          </a:p>
        </p:txBody>
      </p:sp>
      <p:sp>
        <p:nvSpPr>
          <p:cNvPr id="10" name="Text 8"/>
          <p:cNvSpPr/>
          <p:nvPr/>
        </p:nvSpPr>
        <p:spPr>
          <a:xfrm>
            <a:off x="685800" y="2057400"/>
            <a:ext cx="3520440" cy="2240280"/>
          </a:xfrm>
          <a:prstGeom prst="rect">
            <a:avLst/>
          </a:prstGeom>
          <a:noFill/>
          <a:ln/>
        </p:spPr>
        <p:txBody>
          <a:bodyPr wrap="square" lIns="0" tIns="50800" rIns="50800" bIns="0" rtlCol="0" anchor="t"/>
          <a:lstStyle/>
          <a:p>
            <a:pPr marL="342900" indent="-342900">
              <a:lnSpc>
                <a:spcPct val="125000"/>
              </a:lnSpc>
              <a:spcAft>
                <a:spcPts val="400"/>
              </a:spcAft>
              <a:buSzPct val="100000"/>
              <a:buChar char="•"/>
            </a:pPr>
            <a:r>
              <a:rPr lang="en-US" sz="900" dirty="0">
                <a:solidFill>
                  <a:srgbClr val="3C3C3C"/>
                </a:solidFill>
                <a:latin typeface="Arial" pitchFamily="34" charset="0"/>
                <a:ea typeface="Arial" pitchFamily="34" charset="-122"/>
                <a:cs typeface="Arial" pitchFamily="34" charset="-120"/>
              </a:rPr>
              <a:t>What AI actually is now - and what it isn’t; Chat, agents, agentic workflows and agentic systems</a:t>
            </a:r>
            <a:endParaRPr lang="en-US" sz="900" dirty="0"/>
          </a:p>
          <a:p>
            <a:pPr marL="342900" indent="-342900">
              <a:lnSpc>
                <a:spcPct val="125000"/>
              </a:lnSpc>
              <a:spcAft>
                <a:spcPts val="400"/>
              </a:spcAft>
              <a:buSzPct val="100000"/>
              <a:buChar char="•"/>
            </a:pPr>
            <a:r>
              <a:rPr lang="en-US" sz="900" dirty="0">
                <a:solidFill>
                  <a:srgbClr val="3C3C3C"/>
                </a:solidFill>
                <a:latin typeface="Arial" pitchFamily="34" charset="0"/>
                <a:ea typeface="Arial" pitchFamily="34" charset="-122"/>
                <a:cs typeface="Arial" pitchFamily="34" charset="-120"/>
              </a:rPr>
              <a:t>Where your competitors are; What P&amp;G, Unilever and L'Oréal are doing operationally with AI right now</a:t>
            </a:r>
            <a:endParaRPr lang="en-US" sz="900" dirty="0"/>
          </a:p>
          <a:p>
            <a:pPr marL="342900" indent="-342900">
              <a:lnSpc>
                <a:spcPct val="125000"/>
              </a:lnSpc>
              <a:spcAft>
                <a:spcPts val="400"/>
              </a:spcAft>
              <a:buSzPct val="100000"/>
              <a:buChar char="•"/>
            </a:pPr>
            <a:r>
              <a:rPr lang="en-US" sz="900" dirty="0">
                <a:solidFill>
                  <a:srgbClr val="3C3C3C"/>
                </a:solidFill>
                <a:latin typeface="Arial" pitchFamily="34" charset="0"/>
                <a:ea typeface="Arial" pitchFamily="34" charset="-122"/>
                <a:cs typeface="Arial" pitchFamily="34" charset="-120"/>
              </a:rPr>
              <a:t>The 2x2 - four types of AI value with FMCG examples</a:t>
            </a:r>
            <a:endParaRPr lang="en-US" sz="900" dirty="0"/>
          </a:p>
          <a:p>
            <a:pPr marL="342900" indent="-342900">
              <a:lnSpc>
                <a:spcPct val="125000"/>
              </a:lnSpc>
              <a:spcAft>
                <a:spcPts val="400"/>
              </a:spcAft>
              <a:buSzPct val="100000"/>
              <a:buChar char="•"/>
            </a:pPr>
            <a:r>
              <a:rPr lang="en-US" sz="900" dirty="0">
                <a:solidFill>
                  <a:srgbClr val="3C3C3C"/>
                </a:solidFill>
                <a:latin typeface="Arial" pitchFamily="34" charset="0"/>
                <a:ea typeface="Arial" pitchFamily="34" charset="-122"/>
                <a:cs typeface="Arial" pitchFamily="34" charset="-120"/>
              </a:rPr>
              <a:t>COAST framework prompt mastery - structured prompting that transforms output quality using real team tasks</a:t>
            </a:r>
            <a:endParaRPr lang="en-US" sz="900" dirty="0"/>
          </a:p>
          <a:p>
            <a:pPr marL="342900" indent="-342900">
              <a:lnSpc>
                <a:spcPct val="125000"/>
              </a:lnSpc>
              <a:spcAft>
                <a:spcPts val="400"/>
              </a:spcAft>
              <a:buSzPct val="100000"/>
              <a:buChar char="•"/>
            </a:pPr>
            <a:r>
              <a:rPr lang="en-US" sz="900" dirty="0">
                <a:solidFill>
                  <a:srgbClr val="3C3C3C"/>
                </a:solidFill>
                <a:latin typeface="Arial" pitchFamily="34" charset="0"/>
                <a:ea typeface="Arial" pitchFamily="34" charset="-122"/>
                <a:cs typeface="Arial" pitchFamily="34" charset="-120"/>
              </a:rPr>
              <a:t>Copilot 365 hands-on activation - practical, using real tasks from their roles</a:t>
            </a:r>
            <a:endParaRPr lang="en-US" sz="900" dirty="0"/>
          </a:p>
        </p:txBody>
      </p:sp>
      <p:sp>
        <p:nvSpPr>
          <p:cNvPr id="11" name="Shape 9"/>
          <p:cNvSpPr/>
          <p:nvPr/>
        </p:nvSpPr>
        <p:spPr>
          <a:xfrm>
            <a:off x="4846320" y="1600200"/>
            <a:ext cx="3931920" cy="2834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10"/>
          <p:cNvSpPr/>
          <p:nvPr/>
        </p:nvSpPr>
        <p:spPr>
          <a:xfrm>
            <a:off x="4846320" y="1600200"/>
            <a:ext cx="54864" cy="2834640"/>
          </a:xfrm>
          <a:prstGeom prst="rect">
            <a:avLst/>
          </a:prstGeom>
          <a:solidFill>
            <a:srgbClr val="7952B3"/>
          </a:solidFill>
          <a:ln/>
        </p:spPr>
        <p:txBody>
          <a:bodyPr/>
          <a:lstStyle/>
          <a:p>
            <a:endParaRPr lang="en-US"/>
          </a:p>
        </p:txBody>
      </p:sp>
      <p:sp>
        <p:nvSpPr>
          <p:cNvPr id="13" name="Text 11"/>
          <p:cNvSpPr/>
          <p:nvPr/>
        </p:nvSpPr>
        <p:spPr>
          <a:xfrm>
            <a:off x="5074920" y="1709928"/>
            <a:ext cx="3566160" cy="274320"/>
          </a:xfrm>
          <a:prstGeom prst="rect">
            <a:avLst/>
          </a:prstGeom>
          <a:noFill/>
          <a:ln/>
        </p:spPr>
        <p:txBody>
          <a:bodyPr wrap="square" lIns="0" tIns="0" rIns="0" bIns="0" rtlCol="0" anchor="ctr"/>
          <a:lstStyle/>
          <a:p>
            <a:pPr marL="0" indent="0">
              <a:buNone/>
            </a:pPr>
            <a:r>
              <a:rPr lang="en-US" sz="1300" b="1" dirty="0">
                <a:solidFill>
                  <a:srgbClr val="7952B3"/>
                </a:solidFill>
                <a:latin typeface="Georgia" pitchFamily="34" charset="0"/>
                <a:ea typeface="Georgia" pitchFamily="34" charset="-122"/>
                <a:cs typeface="Georgia" pitchFamily="34" charset="-120"/>
              </a:rPr>
              <a:t>Afternoon: Prioritisation</a:t>
            </a:r>
            <a:endParaRPr lang="en-US" sz="1300" dirty="0"/>
          </a:p>
        </p:txBody>
      </p:sp>
      <p:sp>
        <p:nvSpPr>
          <p:cNvPr id="14" name="Text 12"/>
          <p:cNvSpPr/>
          <p:nvPr/>
        </p:nvSpPr>
        <p:spPr>
          <a:xfrm>
            <a:off x="5074920" y="2057400"/>
            <a:ext cx="3520440" cy="2240280"/>
          </a:xfrm>
          <a:prstGeom prst="rect">
            <a:avLst/>
          </a:prstGeom>
          <a:noFill/>
          <a:ln/>
        </p:spPr>
        <p:txBody>
          <a:bodyPr wrap="square" lIns="0" tIns="50800" rIns="50800" bIns="0" rtlCol="0" anchor="t"/>
          <a:lstStyle/>
          <a:p>
            <a:pPr marL="342900" indent="-342900">
              <a:lnSpc>
                <a:spcPct val="125000"/>
              </a:lnSpc>
              <a:spcAft>
                <a:spcPts val="400"/>
              </a:spcAft>
              <a:buSzPct val="100000"/>
              <a:buChar char="•"/>
            </a:pPr>
            <a:r>
              <a:rPr lang="en-US" sz="900" dirty="0">
                <a:solidFill>
                  <a:srgbClr val="3C3C3C"/>
                </a:solidFill>
                <a:latin typeface="Arial" pitchFamily="34" charset="0"/>
                <a:ea typeface="Arial" pitchFamily="34" charset="-122"/>
                <a:cs typeface="Arial" pitchFamily="34" charset="-120"/>
              </a:rPr>
              <a:t>How we assess AI opportunities - the framework we use to identify workflows, break them into tasks and score them for automation potential</a:t>
            </a:r>
            <a:endParaRPr lang="en-US" sz="900" dirty="0"/>
          </a:p>
          <a:p>
            <a:pPr marL="342900" indent="-342900">
              <a:lnSpc>
                <a:spcPct val="125000"/>
              </a:lnSpc>
              <a:spcAft>
                <a:spcPts val="400"/>
              </a:spcAft>
              <a:buSzPct val="100000"/>
              <a:buChar char="•"/>
            </a:pPr>
            <a:r>
              <a:rPr lang="en-US" sz="900" dirty="0">
                <a:solidFill>
                  <a:srgbClr val="3C3C3C"/>
                </a:solidFill>
                <a:latin typeface="Arial" pitchFamily="34" charset="0"/>
                <a:ea typeface="Arial" pitchFamily="34" charset="-122"/>
                <a:cs typeface="Arial" pitchFamily="34" charset="-120"/>
              </a:rPr>
              <a:t>Your team puts their workflows on the table - the ones they came in thinking about, plus whatever surfaced during the morning</a:t>
            </a:r>
            <a:endParaRPr lang="en-US" sz="900" dirty="0"/>
          </a:p>
          <a:p>
            <a:pPr marL="342900" indent="-342900">
              <a:lnSpc>
                <a:spcPct val="125000"/>
              </a:lnSpc>
              <a:spcAft>
                <a:spcPts val="400"/>
              </a:spcAft>
              <a:buSzPct val="100000"/>
              <a:buChar char="•"/>
            </a:pPr>
            <a:r>
              <a:rPr lang="en-US" sz="900" dirty="0">
                <a:solidFill>
                  <a:srgbClr val="3C3C3C"/>
                </a:solidFill>
                <a:latin typeface="Arial" pitchFamily="34" charset="0"/>
                <a:ea typeface="Arial" pitchFamily="34" charset="-122"/>
                <a:cs typeface="Arial" pitchFamily="34" charset="-120"/>
              </a:rPr>
              <a:t>Group debate and prioritisation - where's the most pain, the most time, the most value</a:t>
            </a:r>
            <a:endParaRPr lang="en-US" sz="900" dirty="0"/>
          </a:p>
          <a:p>
            <a:pPr marL="342900" indent="-342900">
              <a:lnSpc>
                <a:spcPct val="125000"/>
              </a:lnSpc>
              <a:buSzPct val="100000"/>
              <a:buChar char="•"/>
            </a:pPr>
            <a:r>
              <a:rPr lang="en-US" sz="900" dirty="0">
                <a:solidFill>
                  <a:srgbClr val="3C3C3C"/>
                </a:solidFill>
                <a:latin typeface="Arial" pitchFamily="34" charset="0"/>
                <a:ea typeface="Arial" pitchFamily="34" charset="-122"/>
                <a:cs typeface="Arial" pitchFamily="34" charset="-120"/>
              </a:rPr>
              <a:t>You leave with a shortlist of 5-6 priority workflows, ready for deeper AgentFlow discovery</a:t>
            </a:r>
            <a:endParaRPr lang="en-US" sz="900" dirty="0"/>
          </a:p>
        </p:txBody>
      </p:sp>
      <p:sp>
        <p:nvSpPr>
          <p:cNvPr id="15" name="Shape 13"/>
          <p:cNvSpPr/>
          <p:nvPr/>
        </p:nvSpPr>
        <p:spPr>
          <a:xfrm>
            <a:off x="457200" y="4572000"/>
            <a:ext cx="6583680" cy="411480"/>
          </a:xfrm>
          <a:prstGeom prst="rect">
            <a:avLst/>
          </a:prstGeom>
          <a:solidFill>
            <a:srgbClr val="2C3E50"/>
          </a:solidFill>
          <a:ln/>
        </p:spPr>
        <p:txBody>
          <a:bodyPr/>
          <a:lstStyle/>
          <a:p>
            <a:endParaRPr lang="en-US"/>
          </a:p>
        </p:txBody>
      </p:sp>
      <p:sp>
        <p:nvSpPr>
          <p:cNvPr id="16" name="Text 14"/>
          <p:cNvSpPr/>
          <p:nvPr/>
        </p:nvSpPr>
        <p:spPr>
          <a:xfrm>
            <a:off x="640080" y="4572000"/>
            <a:ext cx="6217920" cy="411480"/>
          </a:xfrm>
          <a:prstGeom prst="rect">
            <a:avLst/>
          </a:prstGeom>
          <a:noFill/>
          <a:ln/>
        </p:spPr>
        <p:txBody>
          <a:bodyPr wrap="square" lIns="0" tIns="0" rIns="0" bIns="0" rtlCol="0" anchor="ctr"/>
          <a:lstStyle/>
          <a:p>
            <a:pPr marL="0" indent="0" algn="ctr">
              <a:buNone/>
            </a:pPr>
            <a:r>
              <a:rPr lang="en-US" sz="1000" i="1" dirty="0">
                <a:solidFill>
                  <a:srgbClr val="FDFAF6"/>
                </a:solidFill>
                <a:latin typeface="Arial" pitchFamily="34" charset="0"/>
                <a:ea typeface="Arial" pitchFamily="34" charset="-122"/>
                <a:cs typeface="Arial" pitchFamily="34" charset="-120"/>
              </a:rPr>
              <a:t>A leadership team that understands AI, can use AI and has agreed where AI should be applied first. Three things in one day.</a:t>
            </a:r>
            <a:endParaRPr lang="en-US" sz="1000" dirty="0"/>
          </a:p>
        </p:txBody>
      </p:sp>
      <p:sp>
        <p:nvSpPr>
          <p:cNvPr id="17" name="Text 15"/>
          <p:cNvSpPr/>
          <p:nvPr/>
        </p:nvSpPr>
        <p:spPr>
          <a:xfrm>
            <a:off x="7223760" y="4572000"/>
            <a:ext cx="1645920" cy="411480"/>
          </a:xfrm>
          <a:prstGeom prst="rect">
            <a:avLst/>
          </a:prstGeom>
          <a:noFill/>
          <a:ln/>
        </p:spPr>
        <p:txBody>
          <a:bodyPr wrap="square" lIns="0" tIns="0" rIns="0" bIns="0" rtlCol="0" anchor="ctr"/>
          <a:lstStyle/>
          <a:p>
            <a:pPr marL="0" indent="0" algn="r">
              <a:buNone/>
            </a:pPr>
            <a:r>
              <a:rPr lang="en-US" sz="1400" b="1" dirty="0">
                <a:solidFill>
                  <a:srgbClr val="2C3E50"/>
                </a:solidFill>
                <a:latin typeface="Georgia" pitchFamily="34" charset="0"/>
                <a:ea typeface="Georgia" pitchFamily="34" charset="-122"/>
                <a:cs typeface="Georgia" pitchFamily="34" charset="-120"/>
              </a:rPr>
              <a:t>Investment: £7,500</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AF6"/>
        </a:solidFill>
        <a:effectLst/>
      </p:bgPr>
    </p:bg>
    <p:spTree>
      <p:nvGrpSpPr>
        <p:cNvPr id="1" name=""/>
        <p:cNvGrpSpPr/>
        <p:nvPr/>
      </p:nvGrpSpPr>
      <p:grpSpPr>
        <a:xfrm>
          <a:off x="0" y="0"/>
          <a:ext cx="0" cy="0"/>
          <a:chOff x="0" y="0"/>
          <a:chExt cx="0" cy="0"/>
        </a:xfrm>
      </p:grpSpPr>
      <p:sp>
        <p:nvSpPr>
          <p:cNvPr id="2" name="Shape 0"/>
          <p:cNvSpPr/>
          <p:nvPr/>
        </p:nvSpPr>
        <p:spPr>
          <a:xfrm>
            <a:off x="0" y="0"/>
            <a:ext cx="4572000" cy="45720"/>
          </a:xfrm>
          <a:prstGeom prst="rect">
            <a:avLst/>
          </a:prstGeom>
          <a:solidFill>
            <a:srgbClr val="A6C3E8"/>
          </a:solidFill>
          <a:ln/>
        </p:spPr>
        <p:txBody>
          <a:bodyPr/>
          <a:lstStyle/>
          <a:p>
            <a:endParaRPr lang="en-US"/>
          </a:p>
        </p:txBody>
      </p:sp>
      <p:sp>
        <p:nvSpPr>
          <p:cNvPr id="3" name="Shape 1"/>
          <p:cNvSpPr/>
          <p:nvPr/>
        </p:nvSpPr>
        <p:spPr>
          <a:xfrm>
            <a:off x="4572000" y="0"/>
            <a:ext cx="4572000" cy="45720"/>
          </a:xfrm>
          <a:prstGeom prst="rect">
            <a:avLst/>
          </a:prstGeom>
          <a:solidFill>
            <a:srgbClr val="C6B8E4"/>
          </a:solidFill>
          <a:ln/>
        </p:spPr>
        <p:txBody>
          <a:bodyPr/>
          <a:lstStyle/>
          <a:p>
            <a:endParaRPr lang="en-US"/>
          </a:p>
        </p:txBody>
      </p:sp>
      <p:sp>
        <p:nvSpPr>
          <p:cNvPr id="4" name="Text 2"/>
          <p:cNvSpPr/>
          <p:nvPr/>
        </p:nvSpPr>
        <p:spPr>
          <a:xfrm>
            <a:off x="457200" y="182880"/>
            <a:ext cx="8229600" cy="457200"/>
          </a:xfrm>
          <a:prstGeom prst="rect">
            <a:avLst/>
          </a:prstGeom>
          <a:noFill/>
          <a:ln/>
        </p:spPr>
        <p:txBody>
          <a:bodyPr wrap="square" lIns="0" tIns="0" rIns="0" bIns="0" rtlCol="0" anchor="ctr"/>
          <a:lstStyle/>
          <a:p>
            <a:pPr marL="0" indent="0">
              <a:buNone/>
            </a:pPr>
            <a:r>
              <a:rPr lang="en-US" sz="2800" b="1" dirty="0">
                <a:solidFill>
                  <a:srgbClr val="2C3E50"/>
                </a:solidFill>
                <a:latin typeface="Georgia" pitchFamily="34" charset="0"/>
                <a:ea typeface="Georgia" pitchFamily="34" charset="-122"/>
                <a:cs typeface="Georgia" pitchFamily="34" charset="-120"/>
              </a:rPr>
              <a:t>What happens next</a:t>
            </a:r>
            <a:endParaRPr lang="en-US" sz="2800" dirty="0"/>
          </a:p>
        </p:txBody>
      </p:sp>
      <p:sp>
        <p:nvSpPr>
          <p:cNvPr id="5" name="Shape 3"/>
          <p:cNvSpPr/>
          <p:nvPr/>
        </p:nvSpPr>
        <p:spPr>
          <a:xfrm>
            <a:off x="457200" y="822960"/>
            <a:ext cx="54864" cy="960120"/>
          </a:xfrm>
          <a:prstGeom prst="rect">
            <a:avLst/>
          </a:prstGeom>
          <a:solidFill>
            <a:srgbClr val="7952B3"/>
          </a:solidFill>
          <a:ln/>
        </p:spPr>
        <p:txBody>
          <a:bodyPr/>
          <a:lstStyle/>
          <a:p>
            <a:endParaRPr lang="en-US"/>
          </a:p>
        </p:txBody>
      </p:sp>
      <p:sp>
        <p:nvSpPr>
          <p:cNvPr id="6" name="Text 4"/>
          <p:cNvSpPr/>
          <p:nvPr/>
        </p:nvSpPr>
        <p:spPr>
          <a:xfrm>
            <a:off x="685800" y="822960"/>
            <a:ext cx="8001000" cy="960120"/>
          </a:xfrm>
          <a:prstGeom prst="rect">
            <a:avLst/>
          </a:prstGeom>
          <a:noFill/>
          <a:ln/>
        </p:spPr>
        <p:txBody>
          <a:bodyPr wrap="square" lIns="25400" tIns="0" rIns="0" bIns="0" rtlCol="0" anchor="t"/>
          <a:lstStyle/>
          <a:p>
            <a:pPr marL="0" indent="0">
              <a:lnSpc>
                <a:spcPct val="130000"/>
              </a:lnSpc>
              <a:spcAft>
                <a:spcPts val="400"/>
              </a:spcAft>
              <a:buNone/>
            </a:pPr>
            <a:r>
              <a:rPr lang="en-US" sz="1300" b="1" dirty="0">
                <a:solidFill>
                  <a:srgbClr val="7952B3"/>
                </a:solidFill>
                <a:latin typeface="Georgia" pitchFamily="34" charset="0"/>
                <a:ea typeface="Georgia" pitchFamily="34" charset="-122"/>
                <a:cs typeface="Georgia" pitchFamily="34" charset="-120"/>
              </a:rPr>
              <a:t>Discover  |  £6,000 - £9,000</a:t>
            </a:r>
            <a:endParaRPr lang="en-US" sz="1300" dirty="0"/>
          </a:p>
          <a:p>
            <a:pPr marL="0" indent="0">
              <a:lnSpc>
                <a:spcPct val="130000"/>
              </a:lnSpc>
              <a:buNone/>
            </a:pPr>
            <a:r>
              <a:rPr lang="en-US" sz="950" dirty="0">
                <a:solidFill>
                  <a:srgbClr val="3C3C3C"/>
                </a:solidFill>
                <a:latin typeface="Arial" pitchFamily="34" charset="0"/>
                <a:ea typeface="Arial" pitchFamily="34" charset="-122"/>
                <a:cs typeface="Arial" pitchFamily="34" charset="-120"/>
              </a:rPr>
              <a:t>We take the prioritised shortlist from Day One and do proper discovery. That means talking to the people who actually do the work – 30 min conversations, not workshops - and breaking their workflows down into tasks we can score for automation potential. What comes back is a clear recommendation: what to build, in what order and what it will take.</a:t>
            </a:r>
            <a:endParaRPr lang="en-US" sz="1300" dirty="0"/>
          </a:p>
        </p:txBody>
      </p:sp>
      <p:sp>
        <p:nvSpPr>
          <p:cNvPr id="7" name="Shape 5"/>
          <p:cNvSpPr/>
          <p:nvPr/>
        </p:nvSpPr>
        <p:spPr>
          <a:xfrm>
            <a:off x="457200" y="1920240"/>
            <a:ext cx="54864" cy="1051560"/>
          </a:xfrm>
          <a:prstGeom prst="rect">
            <a:avLst/>
          </a:prstGeom>
          <a:solidFill>
            <a:srgbClr val="F7A89D"/>
          </a:solidFill>
          <a:ln/>
        </p:spPr>
        <p:txBody>
          <a:bodyPr/>
          <a:lstStyle/>
          <a:p>
            <a:endParaRPr lang="en-US"/>
          </a:p>
        </p:txBody>
      </p:sp>
      <p:sp>
        <p:nvSpPr>
          <p:cNvPr id="8" name="Text 6"/>
          <p:cNvSpPr/>
          <p:nvPr/>
        </p:nvSpPr>
        <p:spPr>
          <a:xfrm>
            <a:off x="685800" y="1920240"/>
            <a:ext cx="8001000" cy="1051560"/>
          </a:xfrm>
          <a:prstGeom prst="rect">
            <a:avLst/>
          </a:prstGeom>
          <a:noFill/>
          <a:ln/>
        </p:spPr>
        <p:txBody>
          <a:bodyPr wrap="square" lIns="25400" tIns="0" rIns="0" bIns="0" rtlCol="0" anchor="t"/>
          <a:lstStyle/>
          <a:p>
            <a:pPr marL="0" indent="0">
              <a:lnSpc>
                <a:spcPct val="130000"/>
              </a:lnSpc>
              <a:spcAft>
                <a:spcPts val="400"/>
              </a:spcAft>
              <a:buNone/>
            </a:pPr>
            <a:r>
              <a:rPr lang="en-US" sz="1300" b="1" dirty="0">
                <a:solidFill>
                  <a:srgbClr val="2C3E50"/>
                </a:solidFill>
                <a:latin typeface="Georgia" pitchFamily="34" charset="0"/>
                <a:ea typeface="Georgia" pitchFamily="34" charset="-122"/>
                <a:cs typeface="Georgia" pitchFamily="34" charset="-120"/>
              </a:rPr>
              <a:t>Build  |  Priced per project</a:t>
            </a:r>
            <a:endParaRPr lang="en-US" sz="1300" dirty="0"/>
          </a:p>
          <a:p>
            <a:pPr marL="0" indent="0">
              <a:lnSpc>
                <a:spcPct val="130000"/>
              </a:lnSpc>
              <a:spcAft>
                <a:spcPts val="400"/>
              </a:spcAft>
              <a:buNone/>
            </a:pPr>
            <a:r>
              <a:rPr lang="en-US" sz="950" dirty="0">
                <a:solidFill>
                  <a:srgbClr val="3C3C3C"/>
                </a:solidFill>
                <a:latin typeface="Arial" pitchFamily="34" charset="0"/>
                <a:ea typeface="Arial" pitchFamily="34" charset="-122"/>
                <a:cs typeface="Arial" pitchFamily="34" charset="-120"/>
              </a:rPr>
              <a:t>The proof. We take the top opportunities and build working AI agents or automations in Microsoft Copilot Studio where possible. These aren't prototypes - they're tools your team will use every day. Each build includes scoping, integration with your existing systems, user testing and a four-week performance review.</a:t>
            </a:r>
            <a:endParaRPr lang="en-US" sz="1300" dirty="0"/>
          </a:p>
          <a:p>
            <a:pPr marL="0" indent="0">
              <a:lnSpc>
                <a:spcPct val="130000"/>
              </a:lnSpc>
              <a:buNone/>
            </a:pPr>
            <a:r>
              <a:rPr lang="en-US" sz="950" i="1" dirty="0">
                <a:solidFill>
                  <a:srgbClr val="6B6B6B"/>
                </a:solidFill>
                <a:latin typeface="Arial" pitchFamily="34" charset="0"/>
                <a:ea typeface="Arial" pitchFamily="34" charset="-122"/>
                <a:cs typeface="Arial" pitchFamily="34" charset="-120"/>
              </a:rPr>
              <a:t>To give you a sense of the range:</a:t>
            </a:r>
            <a:endParaRPr lang="en-US" sz="1300" dirty="0"/>
          </a:p>
        </p:txBody>
      </p:sp>
      <p:sp>
        <p:nvSpPr>
          <p:cNvPr id="9" name="Shape 7"/>
          <p:cNvSpPr/>
          <p:nvPr/>
        </p:nvSpPr>
        <p:spPr>
          <a:xfrm>
            <a:off x="685800" y="3209697"/>
            <a:ext cx="3840480" cy="9144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0" name="Shape 8"/>
          <p:cNvSpPr/>
          <p:nvPr/>
        </p:nvSpPr>
        <p:spPr>
          <a:xfrm>
            <a:off x="685800" y="3163203"/>
            <a:ext cx="3840480" cy="36576"/>
          </a:xfrm>
          <a:prstGeom prst="rect">
            <a:avLst/>
          </a:prstGeom>
          <a:solidFill>
            <a:srgbClr val="3D5FA8"/>
          </a:solidFill>
          <a:ln/>
        </p:spPr>
        <p:txBody>
          <a:bodyPr/>
          <a:lstStyle/>
          <a:p>
            <a:endParaRPr lang="en-US"/>
          </a:p>
        </p:txBody>
      </p:sp>
      <p:sp>
        <p:nvSpPr>
          <p:cNvPr id="11" name="Text 9"/>
          <p:cNvSpPr/>
          <p:nvPr/>
        </p:nvSpPr>
        <p:spPr>
          <a:xfrm>
            <a:off x="822960" y="3218688"/>
            <a:ext cx="3566160" cy="731520"/>
          </a:xfrm>
          <a:prstGeom prst="rect">
            <a:avLst/>
          </a:prstGeom>
          <a:noFill/>
          <a:ln/>
        </p:spPr>
        <p:txBody>
          <a:bodyPr wrap="square" lIns="0" tIns="0" rIns="0" bIns="0" rtlCol="0" anchor="t"/>
          <a:lstStyle/>
          <a:p>
            <a:pPr marL="0" indent="0">
              <a:lnSpc>
                <a:spcPct val="130000"/>
              </a:lnSpc>
              <a:buNone/>
            </a:pPr>
            <a:r>
              <a:rPr lang="en-US" sz="900" b="1" dirty="0">
                <a:solidFill>
                  <a:srgbClr val="3D5FA8"/>
                </a:solidFill>
                <a:latin typeface="Arial" pitchFamily="34" charset="0"/>
                <a:ea typeface="Arial" pitchFamily="34" charset="-122"/>
                <a:cs typeface="Arial" pitchFamily="34" charset="-120"/>
              </a:rPr>
              <a:t>Simpler end: </a:t>
            </a:r>
            <a:r>
              <a:rPr lang="en-US" sz="900" dirty="0">
                <a:solidFill>
                  <a:srgbClr val="3C3C3C"/>
                </a:solidFill>
                <a:latin typeface="Arial" pitchFamily="34" charset="0"/>
                <a:ea typeface="Arial" pitchFamily="34" charset="-122"/>
                <a:cs typeface="Arial" pitchFamily="34" charset="-120"/>
              </a:rPr>
              <a:t>Automated pre-meeting briefing packs for your sales team. Pulls together available data into a single, structured view before every retailer meeting. A few days to build, immediate time saving, obvious value from week one.</a:t>
            </a:r>
            <a:endParaRPr lang="en-US" sz="900" dirty="0"/>
          </a:p>
        </p:txBody>
      </p:sp>
      <p:sp>
        <p:nvSpPr>
          <p:cNvPr id="12" name="Shape 10"/>
          <p:cNvSpPr/>
          <p:nvPr/>
        </p:nvSpPr>
        <p:spPr>
          <a:xfrm>
            <a:off x="4709160" y="3209697"/>
            <a:ext cx="3840480" cy="9144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3" name="Shape 11"/>
          <p:cNvSpPr/>
          <p:nvPr/>
        </p:nvSpPr>
        <p:spPr>
          <a:xfrm>
            <a:off x="4709160" y="3163203"/>
            <a:ext cx="3840480" cy="36576"/>
          </a:xfrm>
          <a:prstGeom prst="rect">
            <a:avLst/>
          </a:prstGeom>
          <a:solidFill>
            <a:srgbClr val="2C3E50"/>
          </a:solidFill>
          <a:ln/>
        </p:spPr>
        <p:txBody>
          <a:bodyPr/>
          <a:lstStyle/>
          <a:p>
            <a:endParaRPr lang="en-US"/>
          </a:p>
        </p:txBody>
      </p:sp>
      <p:sp>
        <p:nvSpPr>
          <p:cNvPr id="14" name="Text 12"/>
          <p:cNvSpPr/>
          <p:nvPr/>
        </p:nvSpPr>
        <p:spPr>
          <a:xfrm>
            <a:off x="4846320" y="3218688"/>
            <a:ext cx="3566160" cy="731520"/>
          </a:xfrm>
          <a:prstGeom prst="rect">
            <a:avLst/>
          </a:prstGeom>
          <a:noFill/>
          <a:ln/>
        </p:spPr>
        <p:txBody>
          <a:bodyPr wrap="square" lIns="0" tIns="0" rIns="0" bIns="0" rtlCol="0" anchor="t"/>
          <a:lstStyle/>
          <a:p>
            <a:pPr marL="0" indent="0">
              <a:lnSpc>
                <a:spcPct val="130000"/>
              </a:lnSpc>
              <a:buNone/>
            </a:pPr>
            <a:r>
              <a:rPr lang="en-US" sz="900" b="1" dirty="0">
                <a:solidFill>
                  <a:srgbClr val="2C3E50"/>
                </a:solidFill>
                <a:latin typeface="Arial" pitchFamily="34" charset="0"/>
                <a:ea typeface="Arial" pitchFamily="34" charset="-122"/>
                <a:cs typeface="Arial" pitchFamily="34" charset="-120"/>
              </a:rPr>
              <a:t>Complex end: </a:t>
            </a:r>
            <a:r>
              <a:rPr lang="en-US" sz="900" dirty="0">
                <a:solidFill>
                  <a:srgbClr val="3C3C3C"/>
                </a:solidFill>
                <a:latin typeface="Arial" pitchFamily="34" charset="0"/>
                <a:ea typeface="Arial" pitchFamily="34" charset="-122"/>
                <a:cs typeface="Arial" pitchFamily="34" charset="-120"/>
              </a:rPr>
              <a:t>Trade spend optimisation. Cross-references historical promotion ROI by retailer and category to recommend where to invest next. Multiple data sources, more complex logic, but this is where the real commercial impact sits. Weeks not days - and worth every one of them.</a:t>
            </a:r>
            <a:endParaRPr lang="en-US" sz="900" dirty="0"/>
          </a:p>
        </p:txBody>
      </p:sp>
      <p:sp>
        <p:nvSpPr>
          <p:cNvPr id="15" name="Shape 13"/>
          <p:cNvSpPr/>
          <p:nvPr/>
        </p:nvSpPr>
        <p:spPr>
          <a:xfrm>
            <a:off x="457200" y="4206240"/>
            <a:ext cx="54864" cy="640080"/>
          </a:xfrm>
          <a:prstGeom prst="rect">
            <a:avLst/>
          </a:prstGeom>
          <a:solidFill>
            <a:srgbClr val="2C3E50"/>
          </a:solidFill>
          <a:ln/>
        </p:spPr>
        <p:txBody>
          <a:bodyPr/>
          <a:lstStyle/>
          <a:p>
            <a:endParaRPr lang="en-US"/>
          </a:p>
        </p:txBody>
      </p:sp>
      <p:sp>
        <p:nvSpPr>
          <p:cNvPr id="16" name="Text 14"/>
          <p:cNvSpPr/>
          <p:nvPr/>
        </p:nvSpPr>
        <p:spPr>
          <a:xfrm>
            <a:off x="685800" y="4206240"/>
            <a:ext cx="8001000" cy="640080"/>
          </a:xfrm>
          <a:prstGeom prst="rect">
            <a:avLst/>
          </a:prstGeom>
          <a:noFill/>
          <a:ln/>
        </p:spPr>
        <p:txBody>
          <a:bodyPr wrap="square" lIns="25400" tIns="0" rIns="0" bIns="0" rtlCol="0" anchor="t"/>
          <a:lstStyle/>
          <a:p>
            <a:pPr marL="0" indent="0">
              <a:lnSpc>
                <a:spcPct val="130000"/>
              </a:lnSpc>
              <a:spcAft>
                <a:spcPts val="400"/>
              </a:spcAft>
              <a:buNone/>
            </a:pPr>
            <a:r>
              <a:rPr lang="en-US" sz="1300" b="1" dirty="0">
                <a:solidFill>
                  <a:srgbClr val="2C3E50"/>
                </a:solidFill>
                <a:latin typeface="Georgia" pitchFamily="34" charset="0"/>
                <a:ea typeface="Georgia" pitchFamily="34" charset="-122"/>
                <a:cs typeface="Georgia" pitchFamily="34" charset="-120"/>
              </a:rPr>
              <a:t>Embed  |  £3,000 /month</a:t>
            </a:r>
            <a:endParaRPr lang="en-US" sz="1300" dirty="0"/>
          </a:p>
          <a:p>
            <a:pPr marL="0" indent="0">
              <a:lnSpc>
                <a:spcPct val="130000"/>
              </a:lnSpc>
              <a:buNone/>
            </a:pPr>
            <a:r>
              <a:rPr lang="en-US" sz="950" dirty="0">
                <a:solidFill>
                  <a:srgbClr val="3C3C3C"/>
                </a:solidFill>
                <a:latin typeface="Arial" pitchFamily="34" charset="0"/>
                <a:ea typeface="Arial" pitchFamily="34" charset="-122"/>
                <a:cs typeface="Arial" pitchFamily="34" charset="-120"/>
              </a:rPr>
              <a:t>A monthly drop-in session that keeps momentum going. Latest Copilot developments, AI tools and FMCG-relevant applications. Open to anyone to ask questions, get help with prompts, troubleshoot workflows. Your team stays current and has expert support as needs evolve.</a:t>
            </a:r>
            <a:endParaRPr lang="en-US" sz="1300" dirty="0"/>
          </a:p>
        </p:txBody>
      </p:sp>
      <p:sp>
        <p:nvSpPr>
          <p:cNvPr id="17" name="Text 15"/>
          <p:cNvSpPr/>
          <p:nvPr/>
        </p:nvSpPr>
        <p:spPr>
          <a:xfrm>
            <a:off x="457200" y="4919472"/>
            <a:ext cx="8229600" cy="182880"/>
          </a:xfrm>
          <a:prstGeom prst="rect">
            <a:avLst/>
          </a:prstGeom>
          <a:noFill/>
          <a:ln/>
        </p:spPr>
        <p:txBody>
          <a:bodyPr wrap="square" lIns="0" tIns="0" rIns="0" bIns="0" rtlCol="0" anchor="ctr"/>
          <a:lstStyle/>
          <a:p>
            <a:pPr marL="0" indent="0">
              <a:buNone/>
            </a:pPr>
            <a:r>
              <a:rPr lang="en-US" sz="900" i="1" dirty="0">
                <a:solidFill>
                  <a:srgbClr val="6B6B6B"/>
                </a:solidFill>
                <a:latin typeface="Arial" pitchFamily="34" charset="0"/>
                <a:ea typeface="Arial" pitchFamily="34" charset="-122"/>
                <a:cs typeface="Arial" pitchFamily="34" charset="-120"/>
              </a:rPr>
              <a:t>Each phase is commissioned independently. There is no obligation to proceed beyond any stage.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AF6"/>
        </a:solidFill>
        <a:effectLst/>
      </p:bgPr>
    </p:bg>
    <p:spTree>
      <p:nvGrpSpPr>
        <p:cNvPr id="1" name=""/>
        <p:cNvGrpSpPr/>
        <p:nvPr/>
      </p:nvGrpSpPr>
      <p:grpSpPr>
        <a:xfrm>
          <a:off x="0" y="0"/>
          <a:ext cx="0" cy="0"/>
          <a:chOff x="0" y="0"/>
          <a:chExt cx="0" cy="0"/>
        </a:xfrm>
      </p:grpSpPr>
      <p:sp>
        <p:nvSpPr>
          <p:cNvPr id="2" name="Shape 0"/>
          <p:cNvSpPr/>
          <p:nvPr/>
        </p:nvSpPr>
        <p:spPr>
          <a:xfrm>
            <a:off x="0" y="0"/>
            <a:ext cx="4572000" cy="45720"/>
          </a:xfrm>
          <a:prstGeom prst="rect">
            <a:avLst/>
          </a:prstGeom>
          <a:solidFill>
            <a:srgbClr val="A6C3E8"/>
          </a:solidFill>
          <a:ln/>
        </p:spPr>
        <p:txBody>
          <a:bodyPr/>
          <a:lstStyle/>
          <a:p>
            <a:endParaRPr lang="en-US"/>
          </a:p>
        </p:txBody>
      </p:sp>
      <p:sp>
        <p:nvSpPr>
          <p:cNvPr id="3" name="Shape 1"/>
          <p:cNvSpPr/>
          <p:nvPr/>
        </p:nvSpPr>
        <p:spPr>
          <a:xfrm>
            <a:off x="4572000" y="0"/>
            <a:ext cx="4572000" cy="45720"/>
          </a:xfrm>
          <a:prstGeom prst="rect">
            <a:avLst/>
          </a:prstGeom>
          <a:solidFill>
            <a:srgbClr val="C6B8E4"/>
          </a:solidFill>
          <a:ln/>
        </p:spPr>
        <p:txBody>
          <a:bodyPr/>
          <a:lstStyle/>
          <a:p>
            <a:endParaRPr lang="en-US"/>
          </a:p>
        </p:txBody>
      </p:sp>
      <p:sp>
        <p:nvSpPr>
          <p:cNvPr id="4" name="Text 2"/>
          <p:cNvSpPr/>
          <p:nvPr/>
        </p:nvSpPr>
        <p:spPr>
          <a:xfrm>
            <a:off x="457200" y="182880"/>
            <a:ext cx="8229600" cy="457200"/>
          </a:xfrm>
          <a:prstGeom prst="rect">
            <a:avLst/>
          </a:prstGeom>
          <a:noFill/>
          <a:ln/>
        </p:spPr>
        <p:txBody>
          <a:bodyPr wrap="square" lIns="0" tIns="0" rIns="0" bIns="0" rtlCol="0" anchor="ctr"/>
          <a:lstStyle/>
          <a:p>
            <a:pPr marL="0" indent="0">
              <a:buNone/>
            </a:pPr>
            <a:r>
              <a:rPr lang="en-US" sz="2800" b="1" dirty="0">
                <a:solidFill>
                  <a:srgbClr val="2C3E50"/>
                </a:solidFill>
                <a:latin typeface="Georgia" pitchFamily="34" charset="0"/>
                <a:ea typeface="Georgia" pitchFamily="34" charset="-122"/>
                <a:cs typeface="Georgia" pitchFamily="34" charset="-120"/>
              </a:rPr>
              <a:t>About AgentFlow</a:t>
            </a:r>
            <a:endParaRPr lang="en-US" sz="28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3C3C3C"/>
                </a:solidFill>
                <a:latin typeface="Arial" pitchFamily="34" charset="0"/>
                <a:ea typeface="Arial" pitchFamily="34" charset="-122"/>
                <a:cs typeface="Arial" pitchFamily="34" charset="-120"/>
              </a:rPr>
              <a:t>AgentFlow helps businesses find, build and embed AI solutions that amplify what their people can do.</a:t>
            </a:r>
            <a:endParaRPr lang="en-US" sz="1100" dirty="0"/>
          </a:p>
        </p:txBody>
      </p:sp>
      <p:sp>
        <p:nvSpPr>
          <p:cNvPr id="6" name="Shape 4"/>
          <p:cNvSpPr/>
          <p:nvPr/>
        </p:nvSpPr>
        <p:spPr>
          <a:xfrm>
            <a:off x="457200" y="1188720"/>
            <a:ext cx="3931920" cy="3474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7" name="Shape 5"/>
          <p:cNvSpPr/>
          <p:nvPr/>
        </p:nvSpPr>
        <p:spPr>
          <a:xfrm>
            <a:off x="457200" y="1188720"/>
            <a:ext cx="3931920" cy="36576"/>
          </a:xfrm>
          <a:prstGeom prst="rect">
            <a:avLst/>
          </a:prstGeom>
          <a:solidFill>
            <a:srgbClr val="3D5FA8"/>
          </a:solidFill>
          <a:ln/>
        </p:spPr>
        <p:txBody>
          <a:bodyPr/>
          <a:lstStyle/>
          <a:p>
            <a:endParaRPr lang="en-US"/>
          </a:p>
        </p:txBody>
      </p:sp>
      <p:sp>
        <p:nvSpPr>
          <p:cNvPr id="8" name="Text 6"/>
          <p:cNvSpPr/>
          <p:nvPr/>
        </p:nvSpPr>
        <p:spPr>
          <a:xfrm>
            <a:off x="640080" y="1325880"/>
            <a:ext cx="3566160" cy="274320"/>
          </a:xfrm>
          <a:prstGeom prst="rect">
            <a:avLst/>
          </a:prstGeom>
          <a:noFill/>
          <a:ln/>
        </p:spPr>
        <p:txBody>
          <a:bodyPr wrap="square" lIns="0" tIns="0" rIns="0" bIns="0" rtlCol="0" anchor="ctr"/>
          <a:lstStyle/>
          <a:p>
            <a:pPr marL="0" indent="0">
              <a:buNone/>
            </a:pPr>
            <a:r>
              <a:rPr lang="en-US" sz="1500" b="1" dirty="0">
                <a:solidFill>
                  <a:srgbClr val="2C3E50"/>
                </a:solidFill>
                <a:latin typeface="Georgia" pitchFamily="34" charset="0"/>
                <a:ea typeface="Georgia" pitchFamily="34" charset="-122"/>
                <a:cs typeface="Georgia" pitchFamily="34" charset="-120"/>
              </a:rPr>
              <a:t>Hamish Nicklin</a:t>
            </a:r>
            <a:endParaRPr lang="en-US" sz="1500" dirty="0"/>
          </a:p>
        </p:txBody>
      </p:sp>
      <p:sp>
        <p:nvSpPr>
          <p:cNvPr id="9" name="Text 7"/>
          <p:cNvSpPr/>
          <p:nvPr/>
        </p:nvSpPr>
        <p:spPr>
          <a:xfrm>
            <a:off x="640080" y="1600200"/>
            <a:ext cx="3566160" cy="201168"/>
          </a:xfrm>
          <a:prstGeom prst="rect">
            <a:avLst/>
          </a:prstGeom>
          <a:noFill/>
          <a:ln/>
        </p:spPr>
        <p:txBody>
          <a:bodyPr wrap="square" lIns="0" tIns="0" rIns="0" bIns="0" rtlCol="0" anchor="ctr"/>
          <a:lstStyle/>
          <a:p>
            <a:pPr marL="0" indent="0">
              <a:buNone/>
            </a:pPr>
            <a:r>
              <a:rPr lang="en-US" sz="1000" dirty="0">
                <a:solidFill>
                  <a:srgbClr val="3D5FA8"/>
                </a:solidFill>
                <a:latin typeface="Arial" pitchFamily="34" charset="0"/>
                <a:ea typeface="Arial" pitchFamily="34" charset="-122"/>
                <a:cs typeface="Arial" pitchFamily="34" charset="-120"/>
              </a:rPr>
              <a:t>Co-founder &amp; CEO</a:t>
            </a:r>
            <a:endParaRPr lang="en-US" sz="1000" dirty="0"/>
          </a:p>
        </p:txBody>
      </p:sp>
      <p:sp>
        <p:nvSpPr>
          <p:cNvPr id="10" name="Text 8"/>
          <p:cNvSpPr/>
          <p:nvPr/>
        </p:nvSpPr>
        <p:spPr>
          <a:xfrm>
            <a:off x="640080" y="1920240"/>
            <a:ext cx="3566160" cy="1280160"/>
          </a:xfrm>
          <a:prstGeom prst="rect">
            <a:avLst/>
          </a:prstGeom>
          <a:noFill/>
          <a:ln/>
        </p:spPr>
        <p:txBody>
          <a:bodyPr wrap="square" lIns="0" tIns="0" rIns="0" bIns="0" rtlCol="0" anchor="t"/>
          <a:lstStyle/>
          <a:p>
            <a:pPr marL="0" indent="0">
              <a:lnSpc>
                <a:spcPct val="135000"/>
              </a:lnSpc>
              <a:buNone/>
            </a:pPr>
            <a:r>
              <a:rPr lang="en-US" sz="900" dirty="0">
                <a:solidFill>
                  <a:srgbClr val="3C3C3C"/>
                </a:solidFill>
                <a:latin typeface="Arial" pitchFamily="34" charset="0"/>
                <a:ea typeface="Arial" pitchFamily="34" charset="-122"/>
                <a:cs typeface="Arial" pitchFamily="34" charset="-120"/>
              </a:rPr>
              <a:t>25 years building and scaling media businesses. CEO of dentsu Media UK (£1.3bn turnover, 2,000+ people). Chief Revenue Officer at The Guardian, helping reverse a £100m cash loss to operational break-even within three years. Nearly a decade at Google helping agencies transform through digital-first strategies.</a:t>
            </a:r>
            <a:endParaRPr lang="en-US" sz="900" dirty="0"/>
          </a:p>
        </p:txBody>
      </p:sp>
      <p:sp>
        <p:nvSpPr>
          <p:cNvPr id="11" name="Text 9"/>
          <p:cNvSpPr/>
          <p:nvPr/>
        </p:nvSpPr>
        <p:spPr>
          <a:xfrm>
            <a:off x="640080" y="3291840"/>
            <a:ext cx="3566160" cy="1097280"/>
          </a:xfrm>
          <a:prstGeom prst="rect">
            <a:avLst/>
          </a:prstGeom>
          <a:noFill/>
          <a:ln/>
        </p:spPr>
        <p:txBody>
          <a:bodyPr wrap="square" lIns="0" tIns="0" rIns="0" bIns="0" rtlCol="0" anchor="t"/>
          <a:lstStyle/>
          <a:p>
            <a:pPr marL="0" indent="0">
              <a:lnSpc>
                <a:spcPct val="135000"/>
              </a:lnSpc>
              <a:buNone/>
            </a:pPr>
            <a:r>
              <a:rPr lang="en-US" sz="900" i="1" dirty="0">
                <a:solidFill>
                  <a:srgbClr val="6B6B6B"/>
                </a:solidFill>
                <a:latin typeface="Arial" pitchFamily="34" charset="0"/>
                <a:ea typeface="Arial" pitchFamily="34" charset="-122"/>
                <a:cs typeface="Arial" pitchFamily="34" charset="-120"/>
              </a:rPr>
              <a:t>He's lived through the operational challenges that hold businesses back. He knows what it takes to drive revenue growth, scale operations and build market-leading businesses - and where AI can accelerate that versus where it's just expensive distraction.</a:t>
            </a:r>
            <a:endParaRPr lang="en-US" sz="900" dirty="0"/>
          </a:p>
        </p:txBody>
      </p:sp>
      <p:sp>
        <p:nvSpPr>
          <p:cNvPr id="12" name="Shape 10"/>
          <p:cNvSpPr/>
          <p:nvPr/>
        </p:nvSpPr>
        <p:spPr>
          <a:xfrm>
            <a:off x="4754880" y="1188720"/>
            <a:ext cx="3931920" cy="3474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3" name="Shape 11"/>
          <p:cNvSpPr/>
          <p:nvPr/>
        </p:nvSpPr>
        <p:spPr>
          <a:xfrm>
            <a:off x="4754880" y="1188720"/>
            <a:ext cx="3931920" cy="36576"/>
          </a:xfrm>
          <a:prstGeom prst="rect">
            <a:avLst/>
          </a:prstGeom>
          <a:solidFill>
            <a:srgbClr val="7952B3"/>
          </a:solidFill>
          <a:ln/>
        </p:spPr>
        <p:txBody>
          <a:bodyPr/>
          <a:lstStyle/>
          <a:p>
            <a:endParaRPr lang="en-US"/>
          </a:p>
        </p:txBody>
      </p:sp>
      <p:sp>
        <p:nvSpPr>
          <p:cNvPr id="14" name="Text 12"/>
          <p:cNvSpPr/>
          <p:nvPr/>
        </p:nvSpPr>
        <p:spPr>
          <a:xfrm>
            <a:off x="4937760" y="1325880"/>
            <a:ext cx="3566160" cy="274320"/>
          </a:xfrm>
          <a:prstGeom prst="rect">
            <a:avLst/>
          </a:prstGeom>
          <a:noFill/>
          <a:ln/>
        </p:spPr>
        <p:txBody>
          <a:bodyPr wrap="square" lIns="0" tIns="0" rIns="0" bIns="0" rtlCol="0" anchor="ctr"/>
          <a:lstStyle/>
          <a:p>
            <a:pPr marL="0" indent="0">
              <a:buNone/>
            </a:pPr>
            <a:r>
              <a:rPr lang="en-US" sz="1500" b="1" dirty="0">
                <a:solidFill>
                  <a:srgbClr val="2C3E50"/>
                </a:solidFill>
                <a:latin typeface="Georgia" pitchFamily="34" charset="0"/>
                <a:ea typeface="Georgia" pitchFamily="34" charset="-122"/>
                <a:cs typeface="Georgia" pitchFamily="34" charset="-120"/>
              </a:rPr>
              <a:t>Stephen Greszczyszyn</a:t>
            </a:r>
            <a:endParaRPr lang="en-US" sz="1500" dirty="0"/>
          </a:p>
        </p:txBody>
      </p:sp>
      <p:sp>
        <p:nvSpPr>
          <p:cNvPr id="15" name="Text 13"/>
          <p:cNvSpPr/>
          <p:nvPr/>
        </p:nvSpPr>
        <p:spPr>
          <a:xfrm>
            <a:off x="4937760" y="1600200"/>
            <a:ext cx="3566160" cy="201168"/>
          </a:xfrm>
          <a:prstGeom prst="rect">
            <a:avLst/>
          </a:prstGeom>
          <a:noFill/>
          <a:ln/>
        </p:spPr>
        <p:txBody>
          <a:bodyPr wrap="square" lIns="0" tIns="0" rIns="0" bIns="0" rtlCol="0" anchor="ctr"/>
          <a:lstStyle/>
          <a:p>
            <a:pPr marL="0" indent="0">
              <a:buNone/>
            </a:pPr>
            <a:r>
              <a:rPr lang="en-US" sz="1000" dirty="0">
                <a:solidFill>
                  <a:srgbClr val="7952B3"/>
                </a:solidFill>
                <a:latin typeface="Arial" pitchFamily="34" charset="0"/>
                <a:ea typeface="Arial" pitchFamily="34" charset="-122"/>
                <a:cs typeface="Arial" pitchFamily="34" charset="-120"/>
              </a:rPr>
              <a:t>Co-founder &amp; CTO</a:t>
            </a:r>
            <a:endParaRPr lang="en-US" sz="1000" dirty="0"/>
          </a:p>
        </p:txBody>
      </p:sp>
      <p:sp>
        <p:nvSpPr>
          <p:cNvPr id="16" name="Text 14"/>
          <p:cNvSpPr/>
          <p:nvPr/>
        </p:nvSpPr>
        <p:spPr>
          <a:xfrm>
            <a:off x="4937760" y="1920240"/>
            <a:ext cx="3566160" cy="1280160"/>
          </a:xfrm>
          <a:prstGeom prst="rect">
            <a:avLst/>
          </a:prstGeom>
          <a:noFill/>
          <a:ln/>
        </p:spPr>
        <p:txBody>
          <a:bodyPr wrap="square" lIns="0" tIns="0" rIns="0" bIns="0" rtlCol="0" anchor="t"/>
          <a:lstStyle/>
          <a:p>
            <a:pPr marL="0" indent="0">
              <a:lnSpc>
                <a:spcPct val="135000"/>
              </a:lnSpc>
              <a:buNone/>
            </a:pPr>
            <a:r>
              <a:rPr lang="en-US" sz="900" dirty="0">
                <a:solidFill>
                  <a:srgbClr val="3C3C3C"/>
                </a:solidFill>
                <a:latin typeface="Arial" pitchFamily="34" charset="0"/>
                <a:ea typeface="Arial" pitchFamily="34" charset="-122"/>
                <a:cs typeface="Arial" pitchFamily="34" charset="-120"/>
              </a:rPr>
              <a:t>20+ years at Cisco learning what separates automation that works from automation that wastes money. £2M+ saved annually through automation at Cisco. 920+ engineering hours freed per year. Systems that turned 3-day analysis tasks into 3-minute reports. Enterprise-grade solutions that work for growing businesses without the enterprise price tag.</a:t>
            </a:r>
            <a:endParaRPr lang="en-US" sz="900" dirty="0"/>
          </a:p>
        </p:txBody>
      </p:sp>
      <p:sp>
        <p:nvSpPr>
          <p:cNvPr id="17" name="Text 15"/>
          <p:cNvSpPr/>
          <p:nvPr/>
        </p:nvSpPr>
        <p:spPr>
          <a:xfrm>
            <a:off x="4937760" y="3291840"/>
            <a:ext cx="3566160" cy="1097280"/>
          </a:xfrm>
          <a:prstGeom prst="rect">
            <a:avLst/>
          </a:prstGeom>
          <a:noFill/>
          <a:ln/>
        </p:spPr>
        <p:txBody>
          <a:bodyPr wrap="square" lIns="0" tIns="0" rIns="0" bIns="0" rtlCol="0" anchor="t"/>
          <a:lstStyle/>
          <a:p>
            <a:pPr marL="0" indent="0">
              <a:lnSpc>
                <a:spcPct val="135000"/>
              </a:lnSpc>
              <a:buNone/>
            </a:pPr>
            <a:r>
              <a:rPr lang="en-US" sz="900" i="1" dirty="0">
                <a:solidFill>
                  <a:srgbClr val="6B6B6B"/>
                </a:solidFill>
                <a:latin typeface="Arial" pitchFamily="34" charset="0"/>
                <a:ea typeface="Arial" pitchFamily="34" charset="-122"/>
                <a:cs typeface="Arial" pitchFamily="34" charset="-120"/>
              </a:rPr>
              <a:t>Stephen bridges the gap between "AI could do this" and "AI is doing this, right now." He's obsessed with making sure you understand and own your automation - not creating dependency.</a:t>
            </a:r>
            <a:endParaRPr lang="en-US" sz="900" dirty="0"/>
          </a:p>
        </p:txBody>
      </p:sp>
      <p:sp>
        <p:nvSpPr>
          <p:cNvPr id="18" name="Text 16"/>
          <p:cNvSpPr/>
          <p:nvPr/>
        </p:nvSpPr>
        <p:spPr>
          <a:xfrm>
            <a:off x="457200" y="4754880"/>
            <a:ext cx="8229600" cy="274320"/>
          </a:xfrm>
          <a:prstGeom prst="rect">
            <a:avLst/>
          </a:prstGeom>
          <a:noFill/>
          <a:ln/>
        </p:spPr>
        <p:txBody>
          <a:bodyPr wrap="square" lIns="0" tIns="0" rIns="0" bIns="0" rtlCol="0" anchor="ctr"/>
          <a:lstStyle/>
          <a:p>
            <a:pPr marL="0" indent="0" algn="ctr">
              <a:buNone/>
            </a:pPr>
            <a:r>
              <a:rPr lang="en-US" sz="1000" dirty="0">
                <a:solidFill>
                  <a:srgbClr val="6B6B6B"/>
                </a:solidFill>
                <a:latin typeface="Arial" pitchFamily="34" charset="0"/>
                <a:ea typeface="Arial" pitchFamily="34" charset="-122"/>
                <a:cs typeface="Arial" pitchFamily="34" charset="-120"/>
                <a:hlinkClick r:id="rId3"/>
              </a:rPr>
              <a:t>hamish@goagentflow.com</a:t>
            </a:r>
            <a:r>
              <a:rPr lang="en-US" sz="1000" dirty="0">
                <a:solidFill>
                  <a:srgbClr val="6B6B6B"/>
                </a:solidFill>
                <a:latin typeface="Arial" pitchFamily="34" charset="0"/>
                <a:ea typeface="Arial" pitchFamily="34" charset="-122"/>
                <a:cs typeface="Arial" pitchFamily="34" charset="-120"/>
              </a:rPr>
              <a:t> and </a:t>
            </a:r>
            <a:r>
              <a:rPr lang="en-US" sz="1000" u="sng" dirty="0">
                <a:solidFill>
                  <a:schemeClr val="accent1"/>
                </a:solidFill>
                <a:latin typeface="Arial" pitchFamily="34" charset="0"/>
                <a:ea typeface="Arial" pitchFamily="34" charset="-122"/>
                <a:cs typeface="Arial" pitchFamily="34" charset="-120"/>
                <a:hlinkClick r:id="rId4"/>
              </a:rPr>
              <a:t>Stephen@goagentflow.com</a:t>
            </a:r>
            <a:r>
              <a:rPr lang="en-US" sz="1000" u="sng" dirty="0">
                <a:solidFill>
                  <a:srgbClr val="6B6B6B"/>
                </a:solidFill>
                <a:latin typeface="Arial" pitchFamily="34" charset="0"/>
                <a:ea typeface="Arial" pitchFamily="34" charset="-122"/>
                <a:cs typeface="Arial" pitchFamily="34" charset="-120"/>
              </a:rPr>
              <a:t> </a:t>
            </a:r>
            <a:r>
              <a:rPr lang="en-US" sz="1000" dirty="0">
                <a:solidFill>
                  <a:srgbClr val="6B6B6B"/>
                </a:solidFill>
                <a:latin typeface="Arial" pitchFamily="34" charset="0"/>
                <a:ea typeface="Arial" pitchFamily="34" charset="-122"/>
                <a:cs typeface="Arial" pitchFamily="34" charset="-120"/>
              </a:rPr>
              <a:t>|  www.goagentflow.com</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C3E50"/>
        </a:solidFill>
        <a:effectLst/>
      </p:bgPr>
    </p:bg>
    <p:spTree>
      <p:nvGrpSpPr>
        <p:cNvPr id="1" name=""/>
        <p:cNvGrpSpPr/>
        <p:nvPr/>
      </p:nvGrpSpPr>
      <p:grpSpPr>
        <a:xfrm>
          <a:off x="0" y="0"/>
          <a:ext cx="0" cy="0"/>
          <a:chOff x="0" y="0"/>
          <a:chExt cx="0" cy="0"/>
        </a:xfrm>
      </p:grpSpPr>
      <p:sp>
        <p:nvSpPr>
          <p:cNvPr id="2" name="Shape 0"/>
          <p:cNvSpPr/>
          <p:nvPr/>
        </p:nvSpPr>
        <p:spPr>
          <a:xfrm>
            <a:off x="0" y="0"/>
            <a:ext cx="54864" cy="2560320"/>
          </a:xfrm>
          <a:prstGeom prst="rect">
            <a:avLst/>
          </a:prstGeom>
          <a:solidFill>
            <a:srgbClr val="A6C3E8"/>
          </a:solidFill>
          <a:ln/>
        </p:spPr>
        <p:txBody>
          <a:bodyPr/>
          <a:lstStyle/>
          <a:p>
            <a:endParaRPr lang="en-US"/>
          </a:p>
        </p:txBody>
      </p:sp>
      <p:sp>
        <p:nvSpPr>
          <p:cNvPr id="3" name="Shape 1"/>
          <p:cNvSpPr/>
          <p:nvPr/>
        </p:nvSpPr>
        <p:spPr>
          <a:xfrm>
            <a:off x="0" y="2560320"/>
            <a:ext cx="54864" cy="2583180"/>
          </a:xfrm>
          <a:prstGeom prst="rect">
            <a:avLst/>
          </a:prstGeom>
          <a:solidFill>
            <a:srgbClr val="C6B8E4"/>
          </a:solidFill>
          <a:ln/>
        </p:spPr>
        <p:txBody>
          <a:bodyPr/>
          <a:lstStyle/>
          <a:p>
            <a:endParaRPr lang="en-US"/>
          </a:p>
        </p:txBody>
      </p:sp>
      <p:sp>
        <p:nvSpPr>
          <p:cNvPr id="4" name="Text 2"/>
          <p:cNvSpPr/>
          <p:nvPr/>
        </p:nvSpPr>
        <p:spPr>
          <a:xfrm>
            <a:off x="640080" y="1371600"/>
            <a:ext cx="7315200" cy="1097280"/>
          </a:xfrm>
          <a:prstGeom prst="rect">
            <a:avLst/>
          </a:prstGeom>
          <a:noFill/>
          <a:ln/>
        </p:spPr>
        <p:txBody>
          <a:bodyPr wrap="square" lIns="0" tIns="0" rIns="0" bIns="0" rtlCol="0" anchor="ctr"/>
          <a:lstStyle/>
          <a:p>
            <a:pPr marL="0" indent="0">
              <a:buNone/>
            </a:pPr>
            <a:r>
              <a:rPr lang="en-US" sz="5200" b="1" dirty="0">
                <a:solidFill>
                  <a:srgbClr val="FDFAF6"/>
                </a:solidFill>
                <a:latin typeface="Georgia" pitchFamily="34" charset="0"/>
                <a:ea typeface="Georgia" pitchFamily="34" charset="-122"/>
                <a:cs typeface="Georgia" pitchFamily="34" charset="-120"/>
              </a:rPr>
              <a:t>Let’s get started!</a:t>
            </a:r>
            <a:endParaRPr lang="en-US" sz="5200" dirty="0"/>
          </a:p>
        </p:txBody>
      </p:sp>
      <p:sp>
        <p:nvSpPr>
          <p:cNvPr id="5" name="Text 3"/>
          <p:cNvSpPr/>
          <p:nvPr/>
        </p:nvSpPr>
        <p:spPr>
          <a:xfrm>
            <a:off x="640080" y="2743200"/>
            <a:ext cx="7315200" cy="457200"/>
          </a:xfrm>
          <a:prstGeom prst="rect">
            <a:avLst/>
          </a:prstGeom>
          <a:noFill/>
          <a:ln/>
        </p:spPr>
        <p:txBody>
          <a:bodyPr wrap="square" lIns="0" tIns="0" rIns="0" bIns="0" rtlCol="0" anchor="ctr"/>
          <a:lstStyle/>
          <a:p>
            <a:pPr marL="0" indent="0">
              <a:buNone/>
            </a:pPr>
            <a:r>
              <a:rPr lang="en-US" sz="1600" dirty="0">
                <a:solidFill>
                  <a:schemeClr val="accent1">
                    <a:lumMod val="60000"/>
                    <a:lumOff val="40000"/>
                  </a:schemeClr>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hamish@goagentflow.com</a:t>
            </a:r>
            <a:r>
              <a:rPr lang="en-US" sz="1600" dirty="0">
                <a:solidFill>
                  <a:schemeClr val="accent1">
                    <a:lumMod val="60000"/>
                    <a:lumOff val="40000"/>
                  </a:schemeClr>
                </a:solidFill>
                <a:latin typeface="Arial" pitchFamily="34" charset="0"/>
                <a:ea typeface="Arial" pitchFamily="34" charset="-122"/>
                <a:cs typeface="Arial" pitchFamily="34" charset="-120"/>
              </a:rPr>
              <a:t> and </a:t>
            </a:r>
            <a:r>
              <a:rPr lang="en-US" sz="1600" u="sng" dirty="0" err="1">
                <a:solidFill>
                  <a:schemeClr val="accent1">
                    <a:lumMod val="60000"/>
                    <a:lumOff val="40000"/>
                  </a:schemeClr>
                </a:solidFill>
                <a:latin typeface="Arial" pitchFamily="34" charset="0"/>
                <a:ea typeface="Arial" pitchFamily="34" charset="-122"/>
                <a:cs typeface="Arial" pitchFamily="34" charset="-120"/>
              </a:rPr>
              <a:t>Stephen@goagentflow.com</a:t>
            </a:r>
            <a:endParaRPr lang="en-US" sz="1600" u="sng" dirty="0">
              <a:solidFill>
                <a:schemeClr val="accent1">
                  <a:lumMod val="60000"/>
                  <a:lumOff val="40000"/>
                </a:schemeClr>
              </a:solidFill>
            </a:endParaRPr>
          </a:p>
        </p:txBody>
      </p:sp>
      <p:sp>
        <p:nvSpPr>
          <p:cNvPr id="8" name="Text 2">
            <a:extLst>
              <a:ext uri="{FF2B5EF4-FFF2-40B4-BE49-F238E27FC236}">
                <a16:creationId xmlns:a16="http://schemas.microsoft.com/office/drawing/2014/main" id="{7D0BB3F6-5D3A-7939-7D74-F3AC40411E03}"/>
              </a:ext>
            </a:extLst>
          </p:cNvPr>
          <p:cNvSpPr/>
          <p:nvPr/>
        </p:nvSpPr>
        <p:spPr>
          <a:xfrm>
            <a:off x="7198498" y="4282214"/>
            <a:ext cx="1513564" cy="365760"/>
          </a:xfrm>
          <a:prstGeom prst="rect">
            <a:avLst/>
          </a:prstGeom>
          <a:noFill/>
          <a:ln/>
        </p:spPr>
        <p:txBody>
          <a:bodyPr wrap="square" lIns="0" tIns="0" rIns="0" bIns="0" rtlCol="0" anchor="ctr"/>
          <a:lstStyle/>
          <a:p>
            <a:pPr marL="0" indent="0">
              <a:buNone/>
            </a:pPr>
            <a:r>
              <a:rPr lang="en-US" sz="1200" b="1" kern="0" spc="400" dirty="0">
                <a:solidFill>
                  <a:srgbClr val="A6C3E8"/>
                </a:solidFill>
                <a:latin typeface="Arial" pitchFamily="34" charset="0"/>
                <a:ea typeface="Arial" pitchFamily="34" charset="-122"/>
                <a:cs typeface="Arial" pitchFamily="34" charset="-120"/>
              </a:rPr>
              <a:t>AGENTFLOW</a:t>
            </a:r>
            <a:endParaRPr lang="en-US" sz="1200" dirty="0"/>
          </a:p>
        </p:txBody>
      </p:sp>
      <p:pic>
        <p:nvPicPr>
          <p:cNvPr id="9" name="Graphic 8">
            <a:extLst>
              <a:ext uri="{FF2B5EF4-FFF2-40B4-BE49-F238E27FC236}">
                <a16:creationId xmlns:a16="http://schemas.microsoft.com/office/drawing/2014/main" id="{BC5A8311-9B25-FDB1-337B-2F3C25D68E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39965" y="2843939"/>
            <a:ext cx="1230630" cy="12306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1352</Words>
  <Application>Microsoft Macintosh PowerPoint</Application>
  <PresentationFormat>On-screen Show (16:9)</PresentationFormat>
  <Paragraphs>89</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AI Capability at Kao UK</dc:title>
  <dc:subject>PptxGenJS Presentation</dc:subject>
  <dc:creator>AgentFlow</dc:creator>
  <cp:lastModifiedBy>Hamish Nicklin</cp:lastModifiedBy>
  <cp:revision>2</cp:revision>
  <dcterms:created xsi:type="dcterms:W3CDTF">2026-02-11T15:09:37Z</dcterms:created>
  <dcterms:modified xsi:type="dcterms:W3CDTF">2026-02-11T15:32:30Z</dcterms:modified>
</cp:coreProperties>
</file>